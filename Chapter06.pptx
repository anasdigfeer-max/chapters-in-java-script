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6" r:id="rId2"/>
    <p:sldId id="256" r:id="rId3"/>
    <p:sldId id="258" r:id="rId4"/>
    <p:sldId id="260" r:id="rId5"/>
    <p:sldId id="261" r:id="rId6"/>
    <p:sldId id="262" r:id="rId7"/>
    <p:sldId id="263" r:id="rId8"/>
    <p:sldId id="287" r:id="rId9"/>
    <p:sldId id="264" r:id="rId10"/>
    <p:sldId id="266" r:id="rId11"/>
    <p:sldId id="267" r:id="rId12"/>
    <p:sldId id="268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8" r:id="rId23"/>
    <p:sldId id="280" r:id="rId24"/>
    <p:sldId id="281" r:id="rId25"/>
    <p:sldId id="282" r:id="rId26"/>
    <p:sldId id="283" r:id="rId27"/>
    <p:sldId id="284" r:id="rId28"/>
    <p:sldId id="285" r:id="rId29"/>
    <p:sldId id="28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AF71BB9-F929-1E41-D11F-B5A19EAD2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918" y="2079937"/>
            <a:ext cx="7772400" cy="993048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0070C0"/>
                </a:solidFill>
                <a:latin typeface="Arial Rounded MT Bold" pitchFamily="34" charset="0"/>
              </a:rPr>
              <a:t>Chapter 6</a:t>
            </a:r>
            <a:endParaRPr lang="en-US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1AE4BEEB-8983-2EB4-32D1-D4F59C284AA5}"/>
              </a:ext>
            </a:extLst>
          </p:cNvPr>
          <p:cNvSpPr txBox="1">
            <a:spLocks/>
          </p:cNvSpPr>
          <p:nvPr/>
        </p:nvSpPr>
        <p:spPr>
          <a:xfrm>
            <a:off x="685800" y="3442011"/>
            <a:ext cx="7772400" cy="13620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rgbClr val="0070C0"/>
                </a:solidFill>
                <a:latin typeface="Arial Rounded MT Bold" pitchFamily="34" charset="0"/>
              </a:rPr>
              <a:t>Arrays in JavaScript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091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70C0"/>
                </a:solidFill>
              </a:rPr>
              <a:t>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 b="1" dirty="0">
                <a:solidFill>
                  <a:srgbClr val="0070C0"/>
                </a:solidFill>
              </a:rPr>
              <a:t>An array </a:t>
            </a:r>
            <a:r>
              <a:rPr lang="en-US" sz="2500" dirty="0"/>
              <a:t>is a collection of elements stored in a single variable. or</a:t>
            </a:r>
          </a:p>
          <a:p>
            <a:r>
              <a:rPr sz="2500" b="1" dirty="0">
                <a:solidFill>
                  <a:srgbClr val="0070C0"/>
                </a:solidFill>
              </a:rPr>
              <a:t>Arrays</a:t>
            </a:r>
            <a:r>
              <a:rPr sz="2500" dirty="0"/>
              <a:t> are special variables that can hold multiple values at once.</a:t>
            </a:r>
          </a:p>
          <a:p>
            <a:r>
              <a:rPr sz="2500" dirty="0"/>
              <a:t>They make it easy to store, organize, and work with lists of data such as names, prices, or grades.</a:t>
            </a:r>
            <a:endParaRPr lang="en-US" sz="2500" dirty="0"/>
          </a:p>
          <a:p>
            <a:r>
              <a:rPr lang="en-US" sz="2500" dirty="0"/>
              <a:t>Each element has an </a:t>
            </a:r>
            <a:r>
              <a:rPr lang="en-US" sz="2500" b="1" dirty="0">
                <a:solidFill>
                  <a:srgbClr val="0070C0"/>
                </a:solidFill>
              </a:rPr>
              <a:t>index (position number)</a:t>
            </a:r>
            <a:r>
              <a:rPr lang="en-US" sz="2500" dirty="0"/>
              <a:t>.</a:t>
            </a:r>
          </a:p>
          <a:p>
            <a:r>
              <a:rPr lang="en-US" sz="2500" dirty="0"/>
              <a:t>Arrays can store numbers, strings, or even other arrays.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532C0F-F42F-809E-BE52-F5825432B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626" y="5001901"/>
            <a:ext cx="8117174" cy="13068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>
                <a:solidFill>
                  <a:srgbClr val="0070C0"/>
                </a:solidFill>
              </a:rPr>
              <a:t>Key Characteristics of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1" indent="0">
              <a:buNone/>
            </a:pPr>
            <a:r>
              <a:rPr lang="en-US" sz="3200" b="1" dirty="0">
                <a:solidFill>
                  <a:srgbClr val="0070C0"/>
                </a:solidFill>
              </a:rPr>
              <a:t>Characteristics of Arrays:</a:t>
            </a:r>
          </a:p>
          <a:p>
            <a:pPr marL="400050" lvl="1" indent="0">
              <a:buNone/>
            </a:pPr>
            <a:r>
              <a:rPr dirty="0"/>
              <a:t>• </a:t>
            </a:r>
            <a:r>
              <a:rPr b="1" dirty="0">
                <a:solidFill>
                  <a:srgbClr val="0070C0"/>
                </a:solidFill>
              </a:rPr>
              <a:t>Ordered: </a:t>
            </a:r>
            <a:r>
              <a:rPr dirty="0"/>
              <a:t>items keep their position</a:t>
            </a:r>
          </a:p>
          <a:p>
            <a:pPr marL="400050" lvl="1" indent="0">
              <a:buNone/>
            </a:pPr>
            <a:r>
              <a:rPr dirty="0"/>
              <a:t>• </a:t>
            </a:r>
            <a:r>
              <a:rPr b="1" dirty="0">
                <a:solidFill>
                  <a:srgbClr val="0070C0"/>
                </a:solidFill>
              </a:rPr>
              <a:t>Zero-indexed: </a:t>
            </a:r>
            <a:r>
              <a:rPr dirty="0"/>
              <a:t>first element is index 0</a:t>
            </a:r>
          </a:p>
          <a:p>
            <a:pPr marL="400050" lvl="1" indent="0">
              <a:buNone/>
            </a:pPr>
            <a:r>
              <a:rPr dirty="0"/>
              <a:t>• </a:t>
            </a:r>
            <a:r>
              <a:rPr b="1" dirty="0">
                <a:solidFill>
                  <a:srgbClr val="0070C0"/>
                </a:solidFill>
              </a:rPr>
              <a:t>Dynamic</a:t>
            </a:r>
            <a:r>
              <a:rPr dirty="0">
                <a:solidFill>
                  <a:srgbClr val="0070C0"/>
                </a:solidFill>
              </a:rPr>
              <a:t>: </a:t>
            </a:r>
            <a:r>
              <a:rPr dirty="0"/>
              <a:t>can grow or shrink</a:t>
            </a:r>
          </a:p>
          <a:p>
            <a:pPr marL="400050" lvl="1" indent="0">
              <a:buNone/>
            </a:pPr>
            <a:r>
              <a:rPr lang="en-US" dirty="0"/>
              <a:t>• </a:t>
            </a:r>
            <a:r>
              <a:rPr dirty="0"/>
              <a:t>Can hold different data types</a:t>
            </a:r>
            <a:endParaRPr lang="en-US" dirty="0"/>
          </a:p>
          <a:p>
            <a:pPr marL="400050" lvl="1" indent="0">
              <a:buNone/>
            </a:pPr>
            <a:r>
              <a:rPr lang="en-US" dirty="0"/>
              <a:t>• Store related data together (e.g., student names)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Why Use Arrays?</a:t>
            </a:r>
          </a:p>
          <a:p>
            <a:pPr marL="400050" lvl="1" indent="0">
              <a:buNone/>
            </a:pPr>
            <a:r>
              <a:rPr lang="en-US" dirty="0"/>
              <a:t>• Easily loop through multiple values</a:t>
            </a:r>
          </a:p>
          <a:p>
            <a:pPr marL="400050" lvl="1" indent="0">
              <a:buNone/>
            </a:pPr>
            <a:r>
              <a:rPr lang="en-US" dirty="0"/>
              <a:t>• Perform operations like </a:t>
            </a:r>
            <a:r>
              <a:rPr lang="en-US" dirty="0">
                <a:solidFill>
                  <a:srgbClr val="0070C0"/>
                </a:solidFill>
              </a:rPr>
              <a:t>sorting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filtering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summing</a:t>
            </a:r>
          </a:p>
          <a:p>
            <a:pPr marL="400050" lvl="1" indent="0">
              <a:buNone/>
            </a:pPr>
            <a:r>
              <a:rPr lang="en-US" dirty="0"/>
              <a:t>• Simplify code and reduce repetition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>
                <a:solidFill>
                  <a:srgbClr val="0070C0"/>
                </a:solidFill>
              </a:rPr>
              <a:t>Real-Life 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FF52C2-1A11-7180-E434-EE4F7D7DCE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417638"/>
            <a:ext cx="8229600" cy="4616971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70C0"/>
                </a:solidFill>
              </a:rPr>
              <a:t>Creating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JavaScript offers several ways to create arrays:</a:t>
            </a:r>
          </a:p>
          <a:p>
            <a:r>
              <a:rPr dirty="0"/>
              <a:t>1. Array literal []</a:t>
            </a:r>
          </a:p>
          <a:p>
            <a:r>
              <a:rPr dirty="0"/>
              <a:t>2. Array constructor</a:t>
            </a:r>
          </a:p>
          <a:p>
            <a:r>
              <a:rPr dirty="0"/>
              <a:t>3. Empty array</a:t>
            </a:r>
          </a:p>
          <a:p>
            <a:r>
              <a:rPr dirty="0"/>
              <a:t>4. </a:t>
            </a:r>
            <a:r>
              <a:rPr dirty="0" err="1"/>
              <a:t>Array.of</a:t>
            </a:r>
            <a:r>
              <a:rPr dirty="0"/>
              <a:t>()</a:t>
            </a:r>
          </a:p>
          <a:p>
            <a:r>
              <a:rPr dirty="0"/>
              <a:t>5. </a:t>
            </a:r>
            <a:r>
              <a:rPr dirty="0" err="1"/>
              <a:t>Array.from</a:t>
            </a:r>
            <a:r>
              <a:rPr dirty="0"/>
              <a:t>()</a:t>
            </a:r>
          </a:p>
          <a:p>
            <a:r>
              <a:rPr dirty="0"/>
              <a:t>6. Spread operator 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>
                <a:solidFill>
                  <a:srgbClr val="0070C0"/>
                </a:solidFill>
              </a:rPr>
              <a:t>Using Array Literals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The simplest and most common way to create an array in JavaScript is by using </a:t>
            </a:r>
            <a:r>
              <a:rPr lang="en-US" sz="2600" b="1" dirty="0">
                <a:solidFill>
                  <a:srgbClr val="0070C0"/>
                </a:solidFill>
              </a:rPr>
              <a:t>square brackets [ ]</a:t>
            </a:r>
          </a:p>
          <a:p>
            <a:endParaRPr lang="en-US" sz="2600" b="1" dirty="0"/>
          </a:p>
          <a:p>
            <a:endParaRPr lang="en-US" sz="2600" b="1" dirty="0"/>
          </a:p>
          <a:p>
            <a:endParaRPr lang="en-US" sz="2600" b="1" dirty="0"/>
          </a:p>
          <a:p>
            <a:pPr marL="0" indent="0">
              <a:buNone/>
            </a:pPr>
            <a:endParaRPr lang="en-US" sz="2600" b="1" dirty="0"/>
          </a:p>
          <a:p>
            <a:r>
              <a:rPr lang="en-US" sz="2600" dirty="0"/>
              <a:t>You can also store </a:t>
            </a:r>
            <a:r>
              <a:rPr lang="en-US" sz="2600" b="1" dirty="0">
                <a:solidFill>
                  <a:srgbClr val="0070C0"/>
                </a:solidFill>
              </a:rPr>
              <a:t>different data types</a:t>
            </a:r>
            <a:r>
              <a:rPr lang="en-US" sz="2600" dirty="0">
                <a:solidFill>
                  <a:srgbClr val="0070C0"/>
                </a:solidFill>
              </a:rPr>
              <a:t> </a:t>
            </a:r>
            <a:r>
              <a:rPr lang="en-US" sz="2600" dirty="0"/>
              <a:t>in the same array:</a:t>
            </a:r>
            <a:endParaRPr sz="2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8D69AD-6A85-E7FB-8BA4-A61250AC3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567" y="2543578"/>
            <a:ext cx="7824865" cy="1514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A5B41C-9724-4E31-50FD-8CB4EE4FE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5090306"/>
            <a:ext cx="7239000" cy="12446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>
                <a:solidFill>
                  <a:srgbClr val="0070C0"/>
                </a:solidFill>
              </a:rPr>
              <a:t>Using the Array Constructor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In JavaScript, you can create arrays using the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sz="2800" b="1" dirty="0">
                <a:solidFill>
                  <a:srgbClr val="0070C0"/>
                </a:solidFill>
              </a:rPr>
              <a:t>Array() constructor</a:t>
            </a:r>
            <a:r>
              <a:rPr lang="en-US" sz="2800" dirty="0"/>
              <a:t> with the new keyword.</a:t>
            </a:r>
          </a:p>
          <a:p>
            <a:endParaRPr lang="en-US" sz="2800" dirty="0"/>
          </a:p>
          <a:p>
            <a:endParaRPr lang="en-US" sz="2800" dirty="0"/>
          </a:p>
          <a:p>
            <a:endParaRPr sz="2800" dirty="0"/>
          </a:p>
          <a:p>
            <a:r>
              <a:rPr sz="2800" dirty="0"/>
              <a:t>You can also create an </a:t>
            </a:r>
            <a:r>
              <a:rPr sz="2800" b="1" dirty="0">
                <a:solidFill>
                  <a:srgbClr val="0070C0"/>
                </a:solidFill>
              </a:rPr>
              <a:t>empty array</a:t>
            </a:r>
            <a:r>
              <a:rPr sz="2800" dirty="0"/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801F33-0088-F270-657F-6939695DC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575" y="2554852"/>
            <a:ext cx="8229601" cy="13645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15AD59-4213-1744-D4B3-14B5DD964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628" y="4874046"/>
            <a:ext cx="7239000" cy="119968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C5CF0-7C82-05AD-AF1C-8BE5785A6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Array Initializer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BD839-F174-95FC-EB81-7F02C483C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Use the </a:t>
            </a:r>
            <a:r>
              <a:rPr lang="en-US" sz="2800" b="1" dirty="0">
                <a:solidFill>
                  <a:srgbClr val="0070C0"/>
                </a:solidFill>
              </a:rPr>
              <a:t>array initializer </a:t>
            </a:r>
            <a:r>
              <a:rPr lang="en-US" sz="2800" dirty="0"/>
              <a:t>syntax to create an array with a specified length. The elements are initially undefined.</a:t>
            </a:r>
          </a:p>
          <a:p>
            <a:r>
              <a:rPr lang="en-US" sz="2800" b="1" dirty="0">
                <a:solidFill>
                  <a:srgbClr val="0070C0"/>
                </a:solidFill>
              </a:rPr>
              <a:t>If you pass a single number</a:t>
            </a:r>
            <a:r>
              <a:rPr lang="en-US" sz="2800" dirty="0"/>
              <a:t>, it will create an array of </a:t>
            </a:r>
            <a:r>
              <a:rPr lang="en-US" sz="2800" i="1" dirty="0"/>
              <a:t>empty slots</a:t>
            </a:r>
            <a:r>
              <a:rPr lang="en-US" sz="2800" dirty="0"/>
              <a:t> with that length: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CC2856-FEBA-D747-4A29-FC55D656E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21228"/>
            <a:ext cx="8686800" cy="2187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891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70C0"/>
                </a:solidFill>
              </a:rPr>
              <a:t>Empty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Create an empty array and fill it later:</a:t>
            </a:r>
            <a:endParaRPr lang="en-US" dirty="0"/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3C120F-31A2-CBF0-9BA2-8E97CFB20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43593"/>
            <a:ext cx="8420100" cy="378970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Using Array.of() &amp; Array.from()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Creates a new array from given </a:t>
            </a:r>
            <a:r>
              <a:rPr lang="en-US" b="1" dirty="0">
                <a:solidFill>
                  <a:srgbClr val="0070C0"/>
                </a:solidFill>
              </a:rPr>
              <a:t>arguments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dirty="0"/>
              <a:t>Converts </a:t>
            </a:r>
            <a:r>
              <a:rPr b="1" dirty="0">
                <a:solidFill>
                  <a:srgbClr val="0070C0"/>
                </a:solidFill>
              </a:rPr>
              <a:t>iterable</a:t>
            </a:r>
            <a:r>
              <a:rPr dirty="0"/>
              <a:t> objects into arrays: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ABC83A-0CDE-3133-E0A8-54549692E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082" y="4506675"/>
            <a:ext cx="7847351" cy="16194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7FD625-3531-EB3B-BDAC-E49C628E3A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82" y="2285192"/>
            <a:ext cx="7712439" cy="173885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Using the Spread Operator</a:t>
            </a:r>
            <a:endParaRPr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solidFill>
                  <a:srgbClr val="0070C0"/>
                </a:solidFill>
              </a:rPr>
              <a:t>spread operator</a:t>
            </a:r>
            <a:r>
              <a:rPr lang="en-US" dirty="0">
                <a:solidFill>
                  <a:srgbClr val="0070C0"/>
                </a:solidFill>
              </a:rPr>
              <a:t> (...) </a:t>
            </a:r>
            <a:r>
              <a:rPr lang="en-US" dirty="0"/>
              <a:t>allows you to </a:t>
            </a:r>
            <a:r>
              <a:rPr lang="en-US" b="1" dirty="0">
                <a:solidFill>
                  <a:srgbClr val="0070C0"/>
                </a:solidFill>
              </a:rPr>
              <a:t>copy</a:t>
            </a:r>
            <a:r>
              <a:rPr lang="en-US" dirty="0"/>
              <a:t>, </a:t>
            </a:r>
            <a:r>
              <a:rPr lang="en-US" b="1" dirty="0">
                <a:solidFill>
                  <a:srgbClr val="0070C0"/>
                </a:solidFill>
              </a:rPr>
              <a:t>combine</a:t>
            </a:r>
            <a:r>
              <a:rPr lang="en-US" dirty="0"/>
              <a:t>, or </a:t>
            </a:r>
            <a:r>
              <a:rPr lang="en-US" b="1" dirty="0">
                <a:solidFill>
                  <a:srgbClr val="0070C0"/>
                </a:solidFill>
              </a:rPr>
              <a:t>expand</a:t>
            </a:r>
            <a:r>
              <a:rPr lang="en-US" dirty="0"/>
              <a:t> arrays easily in JavaScript.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FB47C3-F59C-234C-14B5-9D690A337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2773181"/>
            <a:ext cx="72390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09585"/>
          </a:xfrm>
        </p:spPr>
        <p:txBody>
          <a:bodyPr>
            <a:normAutofit fontScale="90000"/>
          </a:bodyPr>
          <a:lstStyle/>
          <a:p>
            <a:r>
              <a:rPr b="1" dirty="0">
                <a:solidFill>
                  <a:srgbClr val="0070C0"/>
                </a:solidFill>
              </a:rPr>
              <a:t>Accessing</a:t>
            </a:r>
            <a:r>
              <a:rPr lang="en-US" b="1" dirty="0">
                <a:solidFill>
                  <a:srgbClr val="0070C0"/>
                </a:solidFill>
              </a:rPr>
              <a:t> &amp;</a:t>
            </a:r>
            <a:r>
              <a:rPr lang="en-US" dirty="0"/>
              <a:t> </a:t>
            </a:r>
            <a:r>
              <a:rPr lang="en-US" b="1" dirty="0">
                <a:solidFill>
                  <a:srgbClr val="0070C0"/>
                </a:solidFill>
              </a:rPr>
              <a:t>Updating</a:t>
            </a:r>
            <a:r>
              <a:rPr b="1" dirty="0">
                <a:solidFill>
                  <a:srgbClr val="0070C0"/>
                </a:solidFill>
              </a:rPr>
              <a:t> Array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84224"/>
            <a:ext cx="8229600" cy="4941940"/>
          </a:xfrm>
        </p:spPr>
        <p:txBody>
          <a:bodyPr>
            <a:normAutofit/>
          </a:bodyPr>
          <a:lstStyle/>
          <a:p>
            <a:r>
              <a:rPr lang="en-US" sz="2600" dirty="0"/>
              <a:t>Each element in a JavaScript array has a unique </a:t>
            </a:r>
            <a:r>
              <a:rPr lang="en-US" sz="2600" b="1" dirty="0">
                <a:solidFill>
                  <a:srgbClr val="0070C0"/>
                </a:solidFill>
              </a:rPr>
              <a:t>index number</a:t>
            </a:r>
            <a:r>
              <a:rPr lang="en-US" sz="2600" dirty="0">
                <a:solidFill>
                  <a:srgbClr val="0070C0"/>
                </a:solidFill>
              </a:rPr>
              <a:t> </a:t>
            </a:r>
            <a:r>
              <a:rPr lang="en-US" sz="2600" dirty="0"/>
              <a:t>that tells its position in the array.</a:t>
            </a:r>
          </a:p>
          <a:p>
            <a:endParaRPr lang="en-US" sz="2600" dirty="0"/>
          </a:p>
          <a:p>
            <a:endParaRPr lang="en-US" sz="2600" dirty="0"/>
          </a:p>
          <a:p>
            <a:endParaRPr lang="en-US" sz="2600" dirty="0"/>
          </a:p>
          <a:p>
            <a:endParaRPr lang="en-US" sz="2600" dirty="0"/>
          </a:p>
          <a:p>
            <a:r>
              <a:rPr lang="en-US" sz="2600" dirty="0"/>
              <a:t>You can </a:t>
            </a:r>
            <a:r>
              <a:rPr lang="en-US" sz="2600" b="1" dirty="0">
                <a:solidFill>
                  <a:srgbClr val="0070C0"/>
                </a:solidFill>
              </a:rPr>
              <a:t>change or replace</a:t>
            </a:r>
            <a:r>
              <a:rPr lang="en-US" sz="2600" dirty="0">
                <a:solidFill>
                  <a:srgbClr val="0070C0"/>
                </a:solidFill>
              </a:rPr>
              <a:t> </a:t>
            </a:r>
            <a:r>
              <a:rPr lang="en-US" sz="2600" dirty="0"/>
              <a:t>an element in an array by using its </a:t>
            </a:r>
            <a:r>
              <a:rPr lang="en-US" sz="2600" b="1" dirty="0">
                <a:solidFill>
                  <a:srgbClr val="0070C0"/>
                </a:solidFill>
              </a:rPr>
              <a:t>index number</a:t>
            </a:r>
            <a:r>
              <a:rPr lang="en-US" sz="2600" dirty="0"/>
              <a:t>.</a:t>
            </a:r>
            <a:endParaRPr sz="2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5D121B-08C9-07F4-E279-C118F7AA6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98" y="2083634"/>
            <a:ext cx="7615004" cy="18348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768C56-09B1-9B5F-4BAB-C35354B01F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427" y="4817856"/>
            <a:ext cx="7615005" cy="183481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70C0"/>
                </a:solidFill>
              </a:rPr>
              <a:t>Adding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7298" y="1285406"/>
            <a:ext cx="8229600" cy="4525963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JavaScript provides two easy methods to </a:t>
            </a:r>
            <a:r>
              <a:rPr lang="en-US" sz="2800" b="1" dirty="0">
                <a:solidFill>
                  <a:srgbClr val="0070C0"/>
                </a:solidFill>
              </a:rPr>
              <a:t>add new elements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sz="2800" dirty="0"/>
              <a:t>to an array:</a:t>
            </a:r>
          </a:p>
          <a:p>
            <a:pPr algn="just"/>
            <a:r>
              <a:rPr lang="en-US" sz="2800" b="1" dirty="0">
                <a:solidFill>
                  <a:srgbClr val="0070C0"/>
                </a:solidFill>
              </a:rPr>
              <a:t>unshift(): </a:t>
            </a:r>
            <a:r>
              <a:rPr lang="en-US" sz="2800" dirty="0"/>
              <a:t>adds a new element </a:t>
            </a:r>
            <a:r>
              <a:rPr lang="en-US" sz="2800" b="1" dirty="0">
                <a:solidFill>
                  <a:srgbClr val="0070C0"/>
                </a:solidFill>
              </a:rPr>
              <a:t>to the beginning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sz="2800" dirty="0"/>
              <a:t>of the array.</a:t>
            </a:r>
          </a:p>
          <a:p>
            <a:pPr algn="just"/>
            <a:r>
              <a:rPr lang="en-US" sz="2800" b="1" dirty="0">
                <a:solidFill>
                  <a:srgbClr val="0070C0"/>
                </a:solidFill>
              </a:rPr>
              <a:t>push(): </a:t>
            </a:r>
            <a:r>
              <a:rPr lang="en-US" sz="2800" dirty="0"/>
              <a:t>adds a new element </a:t>
            </a:r>
            <a:r>
              <a:rPr lang="en-US" sz="2800" b="1" dirty="0">
                <a:solidFill>
                  <a:srgbClr val="0070C0"/>
                </a:solidFill>
              </a:rPr>
              <a:t>to the end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sz="2800" dirty="0"/>
              <a:t>of the array.</a:t>
            </a:r>
            <a:endParaRPr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334E0E-A2E1-5BEF-CF84-D410BCA97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912433"/>
            <a:ext cx="8379502" cy="242301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70C0"/>
                </a:solidFill>
              </a:rPr>
              <a:t>Removing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JavaScript provides two simple methods to </a:t>
            </a:r>
            <a:r>
              <a:rPr lang="en-US" sz="2800" b="1" dirty="0">
                <a:solidFill>
                  <a:srgbClr val="0070C0"/>
                </a:solidFill>
              </a:rPr>
              <a:t>remove elements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sz="2800" dirty="0"/>
              <a:t>from an array:</a:t>
            </a:r>
          </a:p>
          <a:p>
            <a:r>
              <a:rPr lang="en-US" sz="2800" b="1" dirty="0">
                <a:solidFill>
                  <a:srgbClr val="0070C0"/>
                </a:solidFill>
              </a:rPr>
              <a:t>shift(): </a:t>
            </a:r>
            <a:r>
              <a:rPr lang="en-US" sz="2800" dirty="0"/>
              <a:t>removes the </a:t>
            </a:r>
            <a:r>
              <a:rPr lang="en-US" sz="2800" b="1" dirty="0">
                <a:solidFill>
                  <a:srgbClr val="0070C0"/>
                </a:solidFill>
              </a:rPr>
              <a:t>first element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sz="2800" dirty="0"/>
              <a:t>of the array.</a:t>
            </a:r>
          </a:p>
          <a:p>
            <a:r>
              <a:rPr lang="en-US" sz="2800" b="1" dirty="0">
                <a:solidFill>
                  <a:srgbClr val="0070C0"/>
                </a:solidFill>
              </a:rPr>
              <a:t>pop(): </a:t>
            </a:r>
            <a:r>
              <a:rPr lang="en-US" sz="2800" dirty="0"/>
              <a:t>removes the </a:t>
            </a:r>
            <a:r>
              <a:rPr lang="en-US" sz="2800" b="1" dirty="0">
                <a:solidFill>
                  <a:srgbClr val="0070C0"/>
                </a:solidFill>
              </a:rPr>
              <a:t>last element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sz="2800" dirty="0"/>
              <a:t>of the array.</a:t>
            </a:r>
            <a:endParaRPr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6A7173-36CA-DA85-C420-B1D9ABBCF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16" y="3657600"/>
            <a:ext cx="7239000" cy="281065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70C0"/>
                </a:solidFill>
              </a:rPr>
              <a:t>Using splice()</a:t>
            </a:r>
            <a:r>
              <a:rPr lang="en-US" b="1" dirty="0">
                <a:solidFill>
                  <a:srgbClr val="0070C0"/>
                </a:solidFill>
              </a:rPr>
              <a:t> &amp; length()</a:t>
            </a:r>
            <a:endParaRPr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/>
          <a:lstStyle/>
          <a:p>
            <a:r>
              <a:rPr lang="en-US" sz="2800" dirty="0"/>
              <a:t>The </a:t>
            </a:r>
            <a:r>
              <a:rPr lang="en-US" sz="2800" b="1" dirty="0">
                <a:solidFill>
                  <a:srgbClr val="0070C0"/>
                </a:solidFill>
              </a:rPr>
              <a:t>splice()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sz="2800" dirty="0"/>
              <a:t>method is used to </a:t>
            </a:r>
            <a:r>
              <a:rPr lang="en-US" sz="2800" b="1" dirty="0">
                <a:solidFill>
                  <a:srgbClr val="0070C0"/>
                </a:solidFill>
              </a:rPr>
              <a:t>add</a:t>
            </a:r>
            <a:r>
              <a:rPr lang="en-US" sz="2800" dirty="0"/>
              <a:t>, </a:t>
            </a:r>
            <a:r>
              <a:rPr lang="en-US" sz="2800" b="1" dirty="0">
                <a:solidFill>
                  <a:srgbClr val="0070C0"/>
                </a:solidFill>
              </a:rPr>
              <a:t>remove</a:t>
            </a:r>
            <a:r>
              <a:rPr lang="en-US" sz="2800" dirty="0"/>
              <a:t>, or </a:t>
            </a:r>
            <a:r>
              <a:rPr lang="en-US" sz="2800" b="1" dirty="0">
                <a:solidFill>
                  <a:srgbClr val="0070C0"/>
                </a:solidFill>
              </a:rPr>
              <a:t>replace</a:t>
            </a:r>
            <a:r>
              <a:rPr lang="en-US" sz="2800" dirty="0"/>
              <a:t> elements in an array.</a:t>
            </a:r>
          </a:p>
          <a:p>
            <a:endParaRPr lang="en-US" sz="2800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Get total number of elements: use </a:t>
            </a:r>
            <a:r>
              <a:rPr lang="en-US" b="1" dirty="0">
                <a:solidFill>
                  <a:srgbClr val="0070C0"/>
                </a:solidFill>
              </a:rPr>
              <a:t>Length()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A91D7B-E9E6-7DD2-B389-1DEECD1AC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548" y="2387414"/>
            <a:ext cx="7180288" cy="20831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71D5C7-D48A-BC47-2E8E-292936D66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548" y="5148053"/>
            <a:ext cx="7075356" cy="143530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70C0"/>
                </a:solidFill>
              </a:rPr>
              <a:t>Using slice() and concat()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00397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70C0"/>
                </a:solidFill>
              </a:rPr>
              <a:t>Slice(): </a:t>
            </a:r>
            <a:r>
              <a:rPr lang="en-US" sz="2800" dirty="0"/>
              <a:t>To </a:t>
            </a:r>
            <a:r>
              <a:rPr lang="en-US" sz="2800" dirty="0">
                <a:solidFill>
                  <a:srgbClr val="0070C0"/>
                </a:solidFill>
              </a:rPr>
              <a:t>copy</a:t>
            </a:r>
            <a:r>
              <a:rPr lang="en-US" sz="2800" dirty="0"/>
              <a:t> a part of an array without changing the original array.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0070C0"/>
                </a:solidFill>
              </a:rPr>
              <a:t>Concat(): </a:t>
            </a:r>
            <a:r>
              <a:rPr lang="en-US" sz="2800" dirty="0"/>
              <a:t>To </a:t>
            </a:r>
            <a:r>
              <a:rPr lang="en-US" sz="2800" dirty="0">
                <a:solidFill>
                  <a:srgbClr val="0070C0"/>
                </a:solidFill>
              </a:rPr>
              <a:t>combine</a:t>
            </a:r>
            <a:r>
              <a:rPr lang="en-US" sz="2800" dirty="0"/>
              <a:t> more arrays into a new array.</a:t>
            </a:r>
            <a:endParaRPr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ECDA2E-7A02-FDAC-E533-7000A982A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93496"/>
            <a:ext cx="8034728" cy="18893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70087B-A9A2-66AB-E8AF-54D6BDBFE0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831647"/>
            <a:ext cx="8491928" cy="145191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70C0"/>
                </a:solidFill>
              </a:rPr>
              <a:t>Iterating Through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To </a:t>
            </a:r>
            <a:r>
              <a:rPr lang="en-US" sz="2800" b="1" dirty="0">
                <a:solidFill>
                  <a:srgbClr val="0070C0"/>
                </a:solidFill>
              </a:rPr>
              <a:t>iterate through (loop over)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sz="2800" dirty="0"/>
              <a:t>an array in JavaScript, you can use </a:t>
            </a:r>
            <a:r>
              <a:rPr lang="en-US" sz="2800" b="1" dirty="0">
                <a:solidFill>
                  <a:srgbClr val="0070C0"/>
                </a:solidFill>
              </a:rPr>
              <a:t>different types of loops.</a:t>
            </a:r>
            <a:r>
              <a:rPr lang="en-US" sz="2800" dirty="0"/>
              <a:t> each with its own purpose and style.</a:t>
            </a:r>
          </a:p>
          <a:p>
            <a:pPr marL="400050" lvl="1" indent="0">
              <a:buNone/>
            </a:pPr>
            <a:r>
              <a:rPr dirty="0"/>
              <a:t>• for loop</a:t>
            </a:r>
          </a:p>
          <a:p>
            <a:pPr marL="400050" lvl="1" indent="0">
              <a:buNone/>
            </a:pPr>
            <a:r>
              <a:rPr dirty="0"/>
              <a:t>• for...of</a:t>
            </a:r>
          </a:p>
          <a:p>
            <a:pPr marL="400050" lvl="1" indent="0">
              <a:buNone/>
            </a:pPr>
            <a:r>
              <a:rPr dirty="0"/>
              <a:t>• forEach()</a:t>
            </a:r>
          </a:p>
          <a:p>
            <a:pPr marL="400050" lvl="1" indent="0">
              <a:buNone/>
            </a:pPr>
            <a:r>
              <a:rPr dirty="0"/>
              <a:t>• map()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70C0"/>
                </a:solidFill>
              </a:rPr>
              <a:t>Using a for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This is the most basic and traditional type of loop. It gives you full control over:</a:t>
            </a:r>
          </a:p>
          <a:p>
            <a:pPr lvl="1"/>
            <a:r>
              <a:rPr lang="en-US" sz="2400" dirty="0"/>
              <a:t>The </a:t>
            </a:r>
            <a:r>
              <a:rPr lang="en-US" sz="2400" b="1" dirty="0">
                <a:solidFill>
                  <a:srgbClr val="0070C0"/>
                </a:solidFill>
              </a:rPr>
              <a:t>starting point</a:t>
            </a:r>
          </a:p>
          <a:p>
            <a:pPr lvl="1"/>
            <a:r>
              <a:rPr lang="en-US" sz="2400" dirty="0"/>
              <a:t>The </a:t>
            </a:r>
            <a:r>
              <a:rPr lang="en-US" sz="2400" b="1" dirty="0">
                <a:solidFill>
                  <a:srgbClr val="0070C0"/>
                </a:solidFill>
              </a:rPr>
              <a:t>ending condition </a:t>
            </a:r>
            <a:r>
              <a:rPr lang="en-US" sz="2400" dirty="0"/>
              <a:t>using </a:t>
            </a:r>
            <a:r>
              <a:rPr lang="en-US" sz="2400" dirty="0" err="1"/>
              <a:t>array.length</a:t>
            </a:r>
            <a:endParaRPr lang="en-US" sz="2400" dirty="0"/>
          </a:p>
          <a:p>
            <a:pPr lvl="1"/>
            <a:r>
              <a:rPr lang="en-US" sz="2400" dirty="0"/>
              <a:t>The </a:t>
            </a:r>
            <a:r>
              <a:rPr lang="en-US" sz="2400" b="1" dirty="0">
                <a:solidFill>
                  <a:srgbClr val="0070C0"/>
                </a:solidFill>
              </a:rPr>
              <a:t>step (increment or decrement)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A2518D-0C8F-4C6B-BF7A-10058C1F4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479" y="3951991"/>
            <a:ext cx="7555042" cy="261161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70C0"/>
                </a:solidFill>
              </a:rPr>
              <a:t>Using for...of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Introduced in </a:t>
            </a:r>
            <a:r>
              <a:rPr lang="en-US" sz="2800" b="1" dirty="0">
                <a:solidFill>
                  <a:srgbClr val="0070C0"/>
                </a:solidFill>
              </a:rPr>
              <a:t>ES6</a:t>
            </a:r>
            <a:r>
              <a:rPr lang="en-US" sz="2800" dirty="0"/>
              <a:t>, this loop makes it simpler to go through arrays and other iterable objects like strings or sets.</a:t>
            </a:r>
            <a:br>
              <a:rPr lang="en-US" sz="2800" dirty="0"/>
            </a:br>
            <a:r>
              <a:rPr lang="en-US" sz="2800" dirty="0"/>
              <a:t>You don’t need to manage indexes — it gives you the </a:t>
            </a:r>
            <a:r>
              <a:rPr lang="en-US" sz="2800" b="1" dirty="0">
                <a:solidFill>
                  <a:srgbClr val="0070C0"/>
                </a:solidFill>
              </a:rPr>
              <a:t>values</a:t>
            </a:r>
            <a:r>
              <a:rPr lang="en-US" sz="2800" dirty="0"/>
              <a:t> directly</a:t>
            </a:r>
          </a:p>
          <a:p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0B75BF-EF89-03EE-57E6-8E375C8AF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22492"/>
            <a:ext cx="8304286" cy="287061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70C0"/>
                </a:solidFill>
              </a:rPr>
              <a:t>Using forEach()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This is a </a:t>
            </a:r>
            <a:r>
              <a:rPr lang="en-US" sz="2800" b="1" dirty="0">
                <a:solidFill>
                  <a:srgbClr val="0070C0"/>
                </a:solidFill>
              </a:rPr>
              <a:t>built-in array method</a:t>
            </a:r>
            <a:r>
              <a:rPr lang="en-US" sz="2800" dirty="0">
                <a:solidFill>
                  <a:srgbClr val="0070C0"/>
                </a:solidFill>
              </a:rPr>
              <a:t>.</a:t>
            </a:r>
            <a:br>
              <a:rPr lang="en-US" sz="2800" dirty="0"/>
            </a:br>
            <a:r>
              <a:rPr lang="en-US" sz="2800" dirty="0"/>
              <a:t>It calls a </a:t>
            </a:r>
            <a:r>
              <a:rPr lang="en-US" sz="2800" b="1" dirty="0">
                <a:solidFill>
                  <a:srgbClr val="0070C0"/>
                </a:solidFill>
              </a:rPr>
              <a:t>callback function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sz="2800" dirty="0"/>
              <a:t>once for every element in the array.</a:t>
            </a:r>
          </a:p>
          <a:p>
            <a:r>
              <a:rPr lang="en-US" sz="2800" b="1" dirty="0">
                <a:solidFill>
                  <a:srgbClr val="0070C0"/>
                </a:solidFill>
              </a:rPr>
              <a:t>Fruit: </a:t>
            </a:r>
            <a:r>
              <a:rPr lang="en-US" sz="2800" dirty="0"/>
              <a:t>the current element</a:t>
            </a:r>
          </a:p>
          <a:p>
            <a:r>
              <a:rPr lang="en-US" sz="2800" b="1" dirty="0">
                <a:solidFill>
                  <a:srgbClr val="0070C0"/>
                </a:solidFill>
              </a:rPr>
              <a:t>Index:  </a:t>
            </a:r>
            <a:r>
              <a:rPr lang="en-US" sz="2800" dirty="0"/>
              <a:t>the current position</a:t>
            </a:r>
          </a:p>
          <a:p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682F2F-87B9-61C2-A165-02E68E9B1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013200"/>
            <a:ext cx="8229600" cy="28448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70C0"/>
                </a:solidFill>
              </a:rPr>
              <a:t>Using map()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map()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/>
              <a:t>method in JavaScript is used to </a:t>
            </a:r>
            <a:r>
              <a:rPr lang="en-US" sz="2400" b="1" dirty="0">
                <a:solidFill>
                  <a:srgbClr val="0070C0"/>
                </a:solidFill>
              </a:rPr>
              <a:t>create a new array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/>
              <a:t>by applying a function to </a:t>
            </a:r>
            <a:r>
              <a:rPr lang="en-US" sz="2400" b="1" dirty="0">
                <a:solidFill>
                  <a:srgbClr val="0070C0"/>
                </a:solidFill>
              </a:rPr>
              <a:t>each element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/>
              <a:t>of an existing array.</a:t>
            </a:r>
          </a:p>
          <a:p>
            <a:r>
              <a:rPr lang="en-US" sz="2400" dirty="0"/>
              <a:t>It does not change the </a:t>
            </a:r>
            <a:r>
              <a:rPr lang="en-US" sz="2400" b="1" dirty="0">
                <a:solidFill>
                  <a:srgbClr val="0070C0"/>
                </a:solidFill>
              </a:rPr>
              <a:t>original array</a:t>
            </a:r>
            <a:r>
              <a:rPr lang="en-US" sz="2400" dirty="0"/>
              <a:t>.</a:t>
            </a:r>
          </a:p>
          <a:p>
            <a:r>
              <a:rPr lang="en-US" sz="2400" dirty="0"/>
              <a:t>It </a:t>
            </a:r>
            <a:r>
              <a:rPr lang="en-US" sz="2400" b="1" dirty="0">
                <a:solidFill>
                  <a:srgbClr val="0070C0"/>
                </a:solidFill>
              </a:rPr>
              <a:t>returns</a:t>
            </a:r>
            <a:r>
              <a:rPr lang="en-US" sz="2400" dirty="0"/>
              <a:t> a new array with the modified values.</a:t>
            </a:r>
          </a:p>
          <a:p>
            <a:r>
              <a:rPr lang="en-US" sz="2400" dirty="0"/>
              <a:t>It is commonly used when you want to transform or process every element in an array.</a:t>
            </a:r>
          </a:p>
          <a:p>
            <a:endParaRPr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23B261-1F32-C46A-607C-148AC9596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296" y="4104905"/>
            <a:ext cx="6473952" cy="192174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94D68-73A8-2226-70CA-EAF6D10BB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Using map()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44A6B-0B3D-103E-B5F3-CE463EA9D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 dirty="0"/>
              <a:t>The </a:t>
            </a:r>
            <a:r>
              <a:rPr lang="en-US" sz="2800" b="1" dirty="0">
                <a:solidFill>
                  <a:srgbClr val="0070C0"/>
                </a:solidFill>
              </a:rPr>
              <a:t>map() </a:t>
            </a:r>
            <a:r>
              <a:rPr lang="en-US" sz="2800" dirty="0"/>
              <a:t>method goes through each value in prices </a:t>
            </a:r>
            <a:r>
              <a:rPr lang="en-US" sz="2800" b="1" dirty="0">
                <a:solidFill>
                  <a:srgbClr val="0070C0"/>
                </a:solidFill>
              </a:rPr>
              <a:t>[10, 20, 30].</a:t>
            </a:r>
          </a:p>
          <a:p>
            <a:pPr algn="just"/>
            <a:r>
              <a:rPr lang="en-US" sz="2800" dirty="0"/>
              <a:t>For each value </a:t>
            </a:r>
            <a:r>
              <a:rPr lang="en-US" sz="2800" b="1" dirty="0">
                <a:solidFill>
                  <a:srgbClr val="0070C0"/>
                </a:solidFill>
              </a:rPr>
              <a:t>p</a:t>
            </a:r>
            <a:r>
              <a:rPr lang="en-US" sz="2800" dirty="0"/>
              <a:t>, it multiplies by </a:t>
            </a:r>
            <a:r>
              <a:rPr lang="en-US" sz="2800" b="1" dirty="0">
                <a:solidFill>
                  <a:srgbClr val="0070C0"/>
                </a:solidFill>
              </a:rPr>
              <a:t>1.15</a:t>
            </a:r>
            <a:r>
              <a:rPr lang="en-US" sz="2800" dirty="0"/>
              <a:t>.</a:t>
            </a:r>
          </a:p>
          <a:p>
            <a:pPr algn="just"/>
            <a:r>
              <a:rPr lang="en-US" sz="2800" dirty="0"/>
              <a:t>The result </a:t>
            </a:r>
            <a:r>
              <a:rPr lang="en-US" sz="2800" b="1" dirty="0">
                <a:solidFill>
                  <a:srgbClr val="0070C0"/>
                </a:solidFill>
              </a:rPr>
              <a:t>[11.5, 23, 34.5] </a:t>
            </a:r>
            <a:r>
              <a:rPr lang="en-US" sz="2800" dirty="0"/>
              <a:t>is stored in </a:t>
            </a:r>
            <a:r>
              <a:rPr lang="en-US" sz="2800" b="1" dirty="0" err="1">
                <a:solidFill>
                  <a:srgbClr val="0070C0"/>
                </a:solidFill>
              </a:rPr>
              <a:t>withTax</a:t>
            </a:r>
            <a:r>
              <a:rPr lang="en-US" sz="2800" b="1" dirty="0">
                <a:solidFill>
                  <a:srgbClr val="0070C0"/>
                </a:solidFill>
              </a:rPr>
              <a:t>, </a:t>
            </a:r>
            <a:r>
              <a:rPr lang="en-US" sz="2800" dirty="0"/>
              <a:t>Which is new array.</a:t>
            </a:r>
          </a:p>
          <a:p>
            <a:pPr algn="just"/>
            <a:r>
              <a:rPr lang="en-US" sz="2800" dirty="0"/>
              <a:t>So, map() is perfect when you want to make </a:t>
            </a:r>
            <a:r>
              <a:rPr lang="en-US" sz="2800" dirty="0">
                <a:solidFill>
                  <a:srgbClr val="0070C0"/>
                </a:solidFill>
              </a:rPr>
              <a:t>a </a:t>
            </a:r>
            <a:r>
              <a:rPr lang="en-US" sz="2800" b="1" dirty="0">
                <a:solidFill>
                  <a:srgbClr val="0070C0"/>
                </a:solidFill>
              </a:rPr>
              <a:t>new array with updated values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sz="2800" dirty="0"/>
              <a:t>based on the old one.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0286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70C0"/>
                </a:solidFill>
              </a:rPr>
              <a:t>Using filter()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</a:t>
            </a:r>
            <a:r>
              <a:rPr lang="en-US" sz="2400" b="1" dirty="0">
                <a:solidFill>
                  <a:srgbClr val="0070C0"/>
                </a:solidFill>
              </a:rPr>
              <a:t>filter()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/>
              <a:t>method in JavaScript is used to </a:t>
            </a:r>
            <a:r>
              <a:rPr lang="en-US" sz="2400" b="1" dirty="0">
                <a:solidFill>
                  <a:srgbClr val="0070C0"/>
                </a:solidFill>
              </a:rPr>
              <a:t>select elements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/>
              <a:t>from an </a:t>
            </a:r>
            <a:r>
              <a:rPr lang="en-US" sz="2400" b="1" dirty="0">
                <a:solidFill>
                  <a:srgbClr val="0070C0"/>
                </a:solidFill>
              </a:rPr>
              <a:t>array</a:t>
            </a:r>
            <a:r>
              <a:rPr lang="en-US" sz="2400" dirty="0"/>
              <a:t> that </a:t>
            </a:r>
            <a:r>
              <a:rPr lang="en-US" sz="2400" b="1" dirty="0">
                <a:solidFill>
                  <a:srgbClr val="0070C0"/>
                </a:solidFill>
              </a:rPr>
              <a:t>meet a specific condition</a:t>
            </a:r>
            <a:r>
              <a:rPr lang="en-US" sz="2400" dirty="0"/>
              <a:t>.</a:t>
            </a:r>
          </a:p>
          <a:p>
            <a:r>
              <a:rPr lang="en-US" sz="2400" dirty="0"/>
              <a:t>It checks each element in the array.</a:t>
            </a:r>
          </a:p>
          <a:p>
            <a:r>
              <a:rPr lang="en-US" sz="2400" dirty="0"/>
              <a:t>It returns a </a:t>
            </a:r>
            <a:r>
              <a:rPr lang="en-US" sz="2400" b="1" dirty="0">
                <a:solidFill>
                  <a:srgbClr val="0070C0"/>
                </a:solidFill>
              </a:rPr>
              <a:t>new array </a:t>
            </a:r>
            <a:r>
              <a:rPr lang="en-US" sz="2400" dirty="0"/>
              <a:t>containing </a:t>
            </a:r>
            <a:r>
              <a:rPr lang="en-US" sz="2400" b="1" dirty="0">
                <a:solidFill>
                  <a:srgbClr val="0070C0"/>
                </a:solidFill>
              </a:rPr>
              <a:t>only</a:t>
            </a:r>
            <a:r>
              <a:rPr lang="en-US" sz="2400" dirty="0"/>
              <a:t> the elements that </a:t>
            </a:r>
            <a:r>
              <a:rPr lang="en-US" sz="2400" b="1" dirty="0">
                <a:solidFill>
                  <a:srgbClr val="0070C0"/>
                </a:solidFill>
              </a:rPr>
              <a:t>pass the test (the condition).</a:t>
            </a:r>
          </a:p>
          <a:p>
            <a:r>
              <a:rPr lang="en-US" sz="2400" dirty="0"/>
              <a:t>It </a:t>
            </a:r>
            <a:r>
              <a:rPr lang="en-US" sz="2400" b="1" dirty="0">
                <a:solidFill>
                  <a:srgbClr val="0070C0"/>
                </a:solidFill>
              </a:rPr>
              <a:t>does not modify </a:t>
            </a:r>
            <a:r>
              <a:rPr lang="en-US" sz="2400" dirty="0"/>
              <a:t>the original array.</a:t>
            </a:r>
            <a:endParaRPr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6E3716-E64F-F530-5B55-2D66A4BB36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545" y="4166707"/>
            <a:ext cx="7048910" cy="214201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70C0"/>
                </a:solidFill>
              </a:rPr>
              <a:t>Using reduce()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dirty="0"/>
              <a:t>The </a:t>
            </a:r>
            <a:r>
              <a:rPr lang="en-US" sz="2400" b="1" dirty="0">
                <a:solidFill>
                  <a:srgbClr val="0070C0"/>
                </a:solidFill>
              </a:rPr>
              <a:t>reduce()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/>
              <a:t>method in JavaScript is used to </a:t>
            </a:r>
            <a:r>
              <a:rPr lang="en-US" sz="2400" b="1" dirty="0">
                <a:solidFill>
                  <a:srgbClr val="0070C0"/>
                </a:solidFill>
              </a:rPr>
              <a:t>combine all elements</a:t>
            </a:r>
            <a:r>
              <a:rPr lang="en-US" sz="2400" dirty="0"/>
              <a:t> of an array </a:t>
            </a:r>
            <a:r>
              <a:rPr lang="en-US" sz="2400" dirty="0">
                <a:solidFill>
                  <a:srgbClr val="0070C0"/>
                </a:solidFill>
              </a:rPr>
              <a:t>into </a:t>
            </a:r>
            <a:r>
              <a:rPr lang="en-US" sz="2400" b="1" dirty="0">
                <a:solidFill>
                  <a:srgbClr val="0070C0"/>
                </a:solidFill>
              </a:rPr>
              <a:t>a single value </a:t>
            </a:r>
            <a:r>
              <a:rPr lang="en-US" sz="2400" dirty="0"/>
              <a:t>such as a sum or product.</a:t>
            </a:r>
          </a:p>
          <a:p>
            <a:r>
              <a:rPr lang="en-US" sz="2400" dirty="0"/>
              <a:t>It processes the array from left to right.</a:t>
            </a:r>
          </a:p>
          <a:p>
            <a:r>
              <a:rPr lang="en-US" sz="2400" dirty="0"/>
              <a:t>It takes a </a:t>
            </a:r>
            <a:r>
              <a:rPr lang="en-US" sz="2400" b="1" dirty="0">
                <a:solidFill>
                  <a:srgbClr val="0070C0"/>
                </a:solidFill>
              </a:rPr>
              <a:t>callback function </a:t>
            </a:r>
            <a:r>
              <a:rPr lang="en-US" sz="2400" dirty="0"/>
              <a:t>with two main parameters:</a:t>
            </a:r>
          </a:p>
          <a:p>
            <a:r>
              <a:rPr lang="en-US" sz="2400" b="1" dirty="0">
                <a:solidFill>
                  <a:srgbClr val="0070C0"/>
                </a:solidFill>
              </a:rPr>
              <a:t>accumulator (sum):</a:t>
            </a:r>
            <a:r>
              <a:rPr lang="en-US" sz="2400" dirty="0"/>
              <a:t> stores the running total.</a:t>
            </a:r>
          </a:p>
          <a:p>
            <a:r>
              <a:rPr lang="en-US" sz="2400" b="1" dirty="0">
                <a:solidFill>
                  <a:srgbClr val="0070C0"/>
                </a:solidFill>
              </a:rPr>
              <a:t>current value (n):</a:t>
            </a:r>
            <a:r>
              <a:rPr lang="en-US" sz="2400" dirty="0"/>
              <a:t> the current element being processed.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8192D8F-F873-E334-8314-D1DAB7C64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4240638"/>
            <a:ext cx="7150608" cy="183315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70C0"/>
                </a:solidFill>
              </a:rPr>
              <a:t>Searching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</a:t>
            </a:r>
            <a:r>
              <a:rPr lang="en-US" sz="2400" b="1" dirty="0">
                <a:solidFill>
                  <a:srgbClr val="0070C0"/>
                </a:solidFill>
              </a:rPr>
              <a:t>includes()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/>
              <a:t>and </a:t>
            </a:r>
            <a:r>
              <a:rPr lang="en-US" sz="2400" b="1" dirty="0">
                <a:solidFill>
                  <a:srgbClr val="0070C0"/>
                </a:solidFill>
              </a:rPr>
              <a:t>indexOf()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/>
              <a:t>methods in JavaScript are used to </a:t>
            </a:r>
            <a:r>
              <a:rPr lang="en-US" sz="2400" b="1" dirty="0">
                <a:solidFill>
                  <a:srgbClr val="0070C0"/>
                </a:solidFill>
              </a:rPr>
              <a:t>search for elements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/>
              <a:t>inside an array.</a:t>
            </a:r>
          </a:p>
          <a:p>
            <a:r>
              <a:rPr lang="en-US" sz="2400" b="1" dirty="0">
                <a:solidFill>
                  <a:srgbClr val="0070C0"/>
                </a:solidFill>
              </a:rPr>
              <a:t>includes():</a:t>
            </a:r>
          </a:p>
          <a:p>
            <a:pPr lvl="1"/>
            <a:r>
              <a:rPr lang="en-US" sz="2000" dirty="0"/>
              <a:t>Checks if a specific value exists in the array.</a:t>
            </a:r>
          </a:p>
          <a:p>
            <a:pPr lvl="1"/>
            <a:r>
              <a:rPr lang="en-US" sz="2000" dirty="0"/>
              <a:t>Returns true if found, otherwise false.</a:t>
            </a:r>
          </a:p>
          <a:p>
            <a:r>
              <a:rPr lang="en-US" sz="2400" b="1" dirty="0">
                <a:solidFill>
                  <a:srgbClr val="0070C0"/>
                </a:solidFill>
              </a:rPr>
              <a:t>indexOf():</a:t>
            </a:r>
          </a:p>
          <a:p>
            <a:pPr lvl="1"/>
            <a:r>
              <a:rPr lang="en-US" sz="2000" dirty="0"/>
              <a:t>Finds the position (index) of a specific element.</a:t>
            </a:r>
          </a:p>
          <a:p>
            <a:pPr lvl="1"/>
            <a:r>
              <a:rPr lang="en-US" sz="2000" dirty="0"/>
              <a:t>Returns the index number if found, or -1 if not found.</a:t>
            </a:r>
          </a:p>
          <a:p>
            <a:endParaRPr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78AB1A6-6DD1-E2AE-C595-A20F0E8B4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736" y="4808308"/>
            <a:ext cx="6272784" cy="163789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70C0"/>
                </a:solidFill>
              </a:rPr>
              <a:t>Multidimensional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/>
              <a:t>A </a:t>
            </a:r>
            <a:r>
              <a:rPr lang="en-US" sz="2400" b="1" dirty="0">
                <a:solidFill>
                  <a:srgbClr val="0070C0"/>
                </a:solidFill>
              </a:rPr>
              <a:t>multidimensional array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/>
              <a:t>in JavaScript is simply an </a:t>
            </a:r>
            <a:r>
              <a:rPr lang="en-US" sz="2400" b="1" dirty="0">
                <a:solidFill>
                  <a:srgbClr val="0070C0"/>
                </a:solidFill>
              </a:rPr>
              <a:t>array that contains other arrays</a:t>
            </a:r>
            <a:r>
              <a:rPr lang="en-US" sz="2400" dirty="0"/>
              <a:t> as its elements. It allows you to store data in </a:t>
            </a:r>
            <a:r>
              <a:rPr lang="en-US" sz="2400" b="1" dirty="0">
                <a:solidFill>
                  <a:srgbClr val="0070C0"/>
                </a:solidFill>
              </a:rPr>
              <a:t>rows and columns</a:t>
            </a:r>
            <a:r>
              <a:rPr lang="en-US" sz="2400" dirty="0"/>
              <a:t>, similar to a table or grid.</a:t>
            </a:r>
          </a:p>
          <a:p>
            <a:pPr algn="just"/>
            <a:r>
              <a:rPr lang="en-US" sz="2400" dirty="0"/>
              <a:t>A </a:t>
            </a:r>
            <a:r>
              <a:rPr lang="en-US" sz="2400" b="1" dirty="0">
                <a:solidFill>
                  <a:srgbClr val="0070C0"/>
                </a:solidFill>
              </a:rPr>
              <a:t>one-dimensional</a:t>
            </a:r>
            <a:r>
              <a:rPr lang="en-US" sz="2400" dirty="0"/>
              <a:t> array stores a </a:t>
            </a:r>
            <a:r>
              <a:rPr lang="en-US" sz="2400" b="1" dirty="0">
                <a:solidFill>
                  <a:srgbClr val="0070C0"/>
                </a:solidFill>
              </a:rPr>
              <a:t>single list of items</a:t>
            </a:r>
            <a:r>
              <a:rPr lang="en-US" sz="2400" dirty="0"/>
              <a:t>.</a:t>
            </a:r>
          </a:p>
          <a:p>
            <a:pPr algn="just"/>
            <a:r>
              <a:rPr lang="en-US" sz="2400" dirty="0"/>
              <a:t>A </a:t>
            </a:r>
            <a:r>
              <a:rPr lang="en-US" sz="2400" b="1" dirty="0">
                <a:solidFill>
                  <a:srgbClr val="0070C0"/>
                </a:solidFill>
              </a:rPr>
              <a:t>two-dimensional</a:t>
            </a:r>
            <a:r>
              <a:rPr lang="en-US" sz="2400" dirty="0"/>
              <a:t> array stores </a:t>
            </a:r>
            <a:r>
              <a:rPr lang="en-US" sz="2400" b="1" dirty="0">
                <a:solidFill>
                  <a:srgbClr val="0070C0"/>
                </a:solidFill>
              </a:rPr>
              <a:t>lists within a list </a:t>
            </a:r>
            <a:r>
              <a:rPr lang="en-US" sz="2400" dirty="0"/>
              <a:t>(like a table).</a:t>
            </a:r>
            <a:endParaRPr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807D6D-ECA8-1EA3-3B71-B3B563F29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3654592"/>
            <a:ext cx="5321808" cy="273092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70C0"/>
                </a:solidFill>
              </a:rPr>
              <a:t>Accessing 2D Array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To </a:t>
            </a:r>
            <a:r>
              <a:rPr lang="en-US" sz="2400" b="1" dirty="0">
                <a:solidFill>
                  <a:srgbClr val="0070C0"/>
                </a:solidFill>
              </a:rPr>
              <a:t>access elements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/>
              <a:t>in a </a:t>
            </a:r>
            <a:r>
              <a:rPr lang="en-US" sz="2400" b="1" dirty="0">
                <a:solidFill>
                  <a:srgbClr val="0070C0"/>
                </a:solidFill>
              </a:rPr>
              <a:t>multidimensional array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/>
              <a:t>(like a 2D array), you use </a:t>
            </a:r>
            <a:r>
              <a:rPr lang="en-US" sz="2400" b="1" dirty="0">
                <a:solidFill>
                  <a:srgbClr val="0070C0"/>
                </a:solidFill>
              </a:rPr>
              <a:t>multiple index numbers.</a:t>
            </a:r>
            <a:r>
              <a:rPr lang="en-US" sz="2400" dirty="0"/>
              <a:t> one for each level of the array.</a:t>
            </a:r>
          </a:p>
          <a:p>
            <a:r>
              <a:rPr lang="en-US" sz="2400" dirty="0"/>
              <a:t>You use </a:t>
            </a:r>
            <a:r>
              <a:rPr lang="en-US" sz="2400" b="1" dirty="0">
                <a:solidFill>
                  <a:srgbClr val="0070C0"/>
                </a:solidFill>
              </a:rPr>
              <a:t>two indexes</a:t>
            </a:r>
            <a:r>
              <a:rPr lang="en-US" sz="2400" dirty="0"/>
              <a:t>:</a:t>
            </a:r>
          </a:p>
          <a:p>
            <a:pPr lvl="1"/>
            <a:r>
              <a:rPr lang="en-US" sz="2000" dirty="0"/>
              <a:t>The </a:t>
            </a:r>
            <a:r>
              <a:rPr lang="en-US" sz="2000" b="1" dirty="0">
                <a:solidFill>
                  <a:srgbClr val="0070C0"/>
                </a:solidFill>
              </a:rPr>
              <a:t>first index</a:t>
            </a:r>
            <a:r>
              <a:rPr lang="en-US" sz="2000" dirty="0"/>
              <a:t>: selects the </a:t>
            </a:r>
            <a:r>
              <a:rPr lang="en-US" sz="2000" b="1" dirty="0">
                <a:solidFill>
                  <a:srgbClr val="0070C0"/>
                </a:solidFill>
              </a:rPr>
              <a:t>row</a:t>
            </a:r>
            <a:r>
              <a:rPr lang="en-US" sz="2000" dirty="0"/>
              <a:t>.</a:t>
            </a:r>
          </a:p>
          <a:p>
            <a:pPr lvl="1"/>
            <a:r>
              <a:rPr lang="en-US" sz="2000" dirty="0"/>
              <a:t>The </a:t>
            </a:r>
            <a:r>
              <a:rPr lang="en-US" sz="2000" b="1" dirty="0">
                <a:solidFill>
                  <a:srgbClr val="0070C0"/>
                </a:solidFill>
              </a:rPr>
              <a:t>second index</a:t>
            </a:r>
            <a:r>
              <a:rPr lang="en-US" sz="2000" dirty="0"/>
              <a:t>: selects the </a:t>
            </a:r>
            <a:r>
              <a:rPr lang="en-US" sz="2000" b="1" dirty="0">
                <a:solidFill>
                  <a:srgbClr val="0070C0"/>
                </a:solidFill>
              </a:rPr>
              <a:t>column</a:t>
            </a:r>
            <a:r>
              <a:rPr lang="en-US" sz="2000" dirty="0"/>
              <a:t> inside that row.</a:t>
            </a:r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B5A136-D2E3-D2FD-FEC4-8EF287454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113149"/>
            <a:ext cx="8503920" cy="185039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70C0"/>
                </a:solidFill>
              </a:rPr>
              <a:t>Iterating 2D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You can use </a:t>
            </a:r>
            <a:r>
              <a:rPr lang="en-US" sz="2800" b="1" dirty="0">
                <a:solidFill>
                  <a:srgbClr val="0070C0"/>
                </a:solidFill>
              </a:rPr>
              <a:t>nested loops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sz="2800" dirty="0"/>
              <a:t>to go through every value:</a:t>
            </a:r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DC6CEA-9CF8-0050-A378-BC4867E91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22788"/>
            <a:ext cx="8357616" cy="308078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786D9DB-5A66-6164-EF5D-8551A45B4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390082"/>
            <a:ext cx="7772400" cy="2077835"/>
          </a:xfrm>
        </p:spPr>
        <p:txBody>
          <a:bodyPr>
            <a:normAutofit/>
          </a:bodyPr>
          <a:lstStyle/>
          <a:p>
            <a:pPr algn="ctr"/>
            <a:r>
              <a:rPr lang="en-US" sz="9600" dirty="0">
                <a:solidFill>
                  <a:srgbClr val="0070C0"/>
                </a:solidFill>
                <a:latin typeface="Arial Rounded MT Bold" pitchFamily="34" charset="0"/>
              </a:rPr>
              <a:t>END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7748395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1148</Words>
  <Application>Microsoft Office PowerPoint</Application>
  <PresentationFormat>On-screen Show (4:3)</PresentationFormat>
  <Paragraphs>148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Arial Rounded MT Bold</vt:lpstr>
      <vt:lpstr>Calibri</vt:lpstr>
      <vt:lpstr>Office Theme</vt:lpstr>
      <vt:lpstr>Chapter 6</vt:lpstr>
      <vt:lpstr>Arrays</vt:lpstr>
      <vt:lpstr>Key Characteristics of Arrays</vt:lpstr>
      <vt:lpstr>Real-Life Example</vt:lpstr>
      <vt:lpstr>Creating Arrays</vt:lpstr>
      <vt:lpstr>Using Array Literals</vt:lpstr>
      <vt:lpstr>Using the Array Constructor</vt:lpstr>
      <vt:lpstr>Array Initializer</vt:lpstr>
      <vt:lpstr>Empty Arrays</vt:lpstr>
      <vt:lpstr>Using Array.of() &amp; Array.from()</vt:lpstr>
      <vt:lpstr>Using the Spread Operator</vt:lpstr>
      <vt:lpstr>Accessing &amp; Updating Array Elements</vt:lpstr>
      <vt:lpstr>Adding Elements</vt:lpstr>
      <vt:lpstr>Removing Elements</vt:lpstr>
      <vt:lpstr>Using splice() &amp; length()</vt:lpstr>
      <vt:lpstr>Using slice() and concat()</vt:lpstr>
      <vt:lpstr>Iterating Through Arrays</vt:lpstr>
      <vt:lpstr>Using a for Loop</vt:lpstr>
      <vt:lpstr>Using for...of Loop</vt:lpstr>
      <vt:lpstr>Using forEach()</vt:lpstr>
      <vt:lpstr>Using map()</vt:lpstr>
      <vt:lpstr>Using map()</vt:lpstr>
      <vt:lpstr>Using filter()</vt:lpstr>
      <vt:lpstr>Using reduce()</vt:lpstr>
      <vt:lpstr>Searching Elements</vt:lpstr>
      <vt:lpstr>Multidimensional Arrays</vt:lpstr>
      <vt:lpstr>Accessing 2D Array Elements</vt:lpstr>
      <vt:lpstr>Iterating 2D Arrays</vt:lpstr>
      <vt:lpstr>END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abdirahman suldanka</dc:creator>
  <cp:keywords/>
  <dc:description>generated using python-pptx</dc:description>
  <cp:lastModifiedBy>abdirahman suldanka</cp:lastModifiedBy>
  <cp:revision>5</cp:revision>
  <dcterms:created xsi:type="dcterms:W3CDTF">2013-01-27T09:14:16Z</dcterms:created>
  <dcterms:modified xsi:type="dcterms:W3CDTF">2025-10-26T14:55:37Z</dcterms:modified>
  <cp:category/>
</cp:coreProperties>
</file>