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8"/>
  </p:notesMasterIdLst>
  <p:sldIdLst>
    <p:sldId id="256" r:id="rId2"/>
    <p:sldId id="257" r:id="rId3"/>
    <p:sldId id="258" r:id="rId4"/>
    <p:sldId id="278" r:id="rId5"/>
    <p:sldId id="262" r:id="rId6"/>
    <p:sldId id="263" r:id="rId7"/>
    <p:sldId id="264" r:id="rId8"/>
    <p:sldId id="265" r:id="rId9"/>
    <p:sldId id="266" r:id="rId10"/>
    <p:sldId id="267" r:id="rId11"/>
    <p:sldId id="260" r:id="rId12"/>
    <p:sldId id="259" r:id="rId13"/>
    <p:sldId id="279" r:id="rId14"/>
    <p:sldId id="261" r:id="rId15"/>
    <p:sldId id="268" r:id="rId16"/>
    <p:sldId id="269" r:id="rId17"/>
    <p:sldId id="270" r:id="rId18"/>
    <p:sldId id="271" r:id="rId19"/>
    <p:sldId id="303" r:id="rId20"/>
    <p:sldId id="280" r:id="rId21"/>
    <p:sldId id="281" r:id="rId22"/>
    <p:sldId id="274" r:id="rId23"/>
    <p:sldId id="276" r:id="rId24"/>
    <p:sldId id="282" r:id="rId25"/>
    <p:sldId id="283" r:id="rId26"/>
    <p:sldId id="284" r:id="rId27"/>
    <p:sldId id="285" r:id="rId28"/>
    <p:sldId id="286" r:id="rId29"/>
    <p:sldId id="287" r:id="rId30"/>
    <p:sldId id="273" r:id="rId31"/>
    <p:sldId id="288" r:id="rId32"/>
    <p:sldId id="289" r:id="rId33"/>
    <p:sldId id="290" r:id="rId34"/>
    <p:sldId id="272" r:id="rId35"/>
    <p:sldId id="291" r:id="rId36"/>
    <p:sldId id="292" r:id="rId37"/>
    <p:sldId id="293" r:id="rId38"/>
    <p:sldId id="302" r:id="rId39"/>
    <p:sldId id="294" r:id="rId40"/>
    <p:sldId id="295" r:id="rId41"/>
    <p:sldId id="296" r:id="rId42"/>
    <p:sldId id="297" r:id="rId43"/>
    <p:sldId id="298" r:id="rId44"/>
    <p:sldId id="300" r:id="rId45"/>
    <p:sldId id="299" r:id="rId46"/>
    <p:sldId id="301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76" autoAdjust="0"/>
    <p:restoredTop sz="94660"/>
  </p:normalViewPr>
  <p:slideViewPr>
    <p:cSldViewPr>
      <p:cViewPr varScale="1">
        <p:scale>
          <a:sx n="64" d="100"/>
          <a:sy n="64" d="100"/>
        </p:scale>
        <p:origin x="174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D22F8-8AAC-4B6B-90DF-11F6E5C205A7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05D1-5258-4DB4-B7D5-880DB47CF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036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68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21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B9DDE-2FDA-E46B-F43D-9AB47575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88F4D-B92E-341D-7640-BF9AC5D39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758C0-F662-18C3-F73F-92568C220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DFDD9-749C-846E-FFB7-5FAEA2E3C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067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987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96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30EBF-3BEB-CDCA-1AFB-C704D988E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3DB47-553B-9CEB-A6C3-0A2142768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63FF8-E135-2339-3CDC-BF2965B61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BEED3-C633-354B-5809-1878DC406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A05D1-5258-4DB4-B7D5-880DB47CFFE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36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94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15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1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45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30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84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28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75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75CC6-48DE-4ABD-9B30-452AA1BD9ED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67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75CC6-48DE-4ABD-9B30-452AA1BD9EDA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F6DCA-7AE1-4CF8-A12D-5578E3C87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1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Java_(programming_language)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2286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Introduction to JavaScript Programming</a:t>
            </a:r>
            <a:b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</a:br>
            <a:r>
              <a:rPr lang="en-US" sz="3100" dirty="0">
                <a:solidFill>
                  <a:srgbClr val="0070C0"/>
                </a:solidFill>
                <a:latin typeface="Arial Rounded MT Bold" pitchFamily="34" charset="0"/>
              </a:rPr>
              <a:t>Creating Interactive Web Pages</a:t>
            </a:r>
          </a:p>
        </p:txBody>
      </p:sp>
    </p:spTree>
    <p:extLst>
      <p:ext uri="{BB962C8B-B14F-4D97-AF65-F5344CB8AC3E}">
        <p14:creationId xmlns:p14="http://schemas.microsoft.com/office/powerpoint/2010/main" val="2397068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00" y="1724552"/>
            <a:ext cx="4669799" cy="2695048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62400" cy="4691063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0.1</a:t>
            </a:r>
          </a:p>
          <a:p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What is Computer?</a:t>
            </a:r>
          </a:p>
        </p:txBody>
      </p:sp>
    </p:spTree>
    <p:extLst>
      <p:ext uri="{BB962C8B-B14F-4D97-AF65-F5344CB8AC3E}">
        <p14:creationId xmlns:p14="http://schemas.microsoft.com/office/powerpoint/2010/main" val="303125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computer?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8E40CE7A-713D-BF00-FAE6-A18A5A95F9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224272"/>
            <a:ext cx="8229600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3000" b="1" dirty="0"/>
              <a:t>An electronic device that stores, processes, and retrieves information.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3000" dirty="0"/>
              <a:t>Performs tasks with speed, accuracy, and efficiency beyond human ability.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3000" dirty="0"/>
              <a:t>Used for solving problems, analyzing data, communication, and everyday tasks.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3000" dirty="0"/>
              <a:t>Has become a cornerstone of modern life.</a:t>
            </a:r>
          </a:p>
        </p:txBody>
      </p:sp>
    </p:spTree>
    <p:extLst>
      <p:ext uri="{BB962C8B-B14F-4D97-AF65-F5344CB8AC3E}">
        <p14:creationId xmlns:p14="http://schemas.microsoft.com/office/powerpoint/2010/main" val="193036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9704-207C-00ED-087B-663274C4A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Computers in Modern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AB9CE-7539-0991-5449-61D7183F5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0" indent="0" fontAlgn="base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/>
              <a:t>Everyday Life: </a:t>
            </a:r>
            <a:r>
              <a:rPr lang="en-US" altLang="en-US" dirty="0"/>
              <a:t>Smartphones, laptops, ATMs, smart devices.</a:t>
            </a:r>
          </a:p>
          <a:p>
            <a:pPr marL="0" marR="0" lvl="0" indent="0" fontAlgn="base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/>
              <a:t>Education: </a:t>
            </a:r>
            <a:r>
              <a:rPr lang="en-US" altLang="en-US" dirty="0"/>
              <a:t>Online learning, research, virtual labs.</a:t>
            </a:r>
          </a:p>
          <a:p>
            <a:pPr marL="0" marR="0" lvl="0" indent="0" fontAlgn="base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/>
              <a:t>Healthcare: </a:t>
            </a:r>
            <a:r>
              <a:rPr lang="en-US" altLang="en-US" dirty="0"/>
              <a:t>Patient records, medical imaging, robotic surgery.</a:t>
            </a:r>
          </a:p>
          <a:p>
            <a:pPr marL="0" marR="0" lvl="0" indent="0" fontAlgn="base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/>
              <a:t>Business: </a:t>
            </a:r>
            <a:r>
              <a:rPr lang="en-US" altLang="en-US" dirty="0"/>
              <a:t>Digital payments, online shopping, financial systems.</a:t>
            </a:r>
          </a:p>
          <a:p>
            <a:pPr marL="0" marR="0" lvl="0" indent="0" fontAlgn="base">
              <a:lnSpc>
                <a:spcPct val="100000"/>
              </a:lnSpc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/>
              <a:t>Science &amp; Innovation: </a:t>
            </a:r>
            <a:r>
              <a:rPr lang="en-US" altLang="en-US" dirty="0"/>
              <a:t>AI, space exploration, self-driving cars.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358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62400" cy="4691063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0.2</a:t>
            </a:r>
          </a:p>
          <a:p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Computer Basics</a:t>
            </a:r>
          </a:p>
        </p:txBody>
      </p:sp>
      <p:pic>
        <p:nvPicPr>
          <p:cNvPr id="7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100187"/>
            <a:ext cx="3810000" cy="2198838"/>
          </a:xfrm>
        </p:spPr>
      </p:pic>
    </p:spTree>
    <p:extLst>
      <p:ext uri="{BB962C8B-B14F-4D97-AF65-F5344CB8AC3E}">
        <p14:creationId xmlns:p14="http://schemas.microsoft.com/office/powerpoint/2010/main" val="3795197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input-processing-output model</a:t>
            </a:r>
          </a:p>
        </p:txBody>
      </p:sp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037" y="1843087"/>
            <a:ext cx="6024563" cy="394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760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Used to receive data from the outside world</a:t>
            </a:r>
          </a:p>
          <a:p>
            <a:r>
              <a:rPr lang="en-US" sz="2800" dirty="0"/>
              <a:t>Mouse</a:t>
            </a:r>
          </a:p>
          <a:p>
            <a:r>
              <a:rPr lang="en-US" sz="2800" dirty="0"/>
              <a:t>Keyboard</a:t>
            </a:r>
          </a:p>
          <a:p>
            <a:r>
              <a:rPr lang="en-US" sz="2800" dirty="0"/>
              <a:t>Voice activation</a:t>
            </a:r>
          </a:p>
          <a:p>
            <a:r>
              <a:rPr lang="en-US" sz="2800" dirty="0"/>
              <a:t>Touch screens</a:t>
            </a:r>
          </a:p>
          <a:p>
            <a:r>
              <a:rPr lang="en-US" sz="2800" dirty="0"/>
              <a:t>and more…</a:t>
            </a:r>
            <a:endParaRPr lang="en-US" sz="20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8839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Used to receive data from the outside world</a:t>
            </a:r>
          </a:p>
          <a:p>
            <a:r>
              <a:rPr lang="en-US" sz="2800" dirty="0"/>
              <a:t>CPU: Central Processing Unit – considered the brain</a:t>
            </a:r>
          </a:p>
          <a:p>
            <a:r>
              <a:rPr lang="en-US" sz="2800" dirty="0"/>
              <a:t>ALU: Arithmetic-Logic Unit</a:t>
            </a:r>
          </a:p>
          <a:p>
            <a:pPr marL="0" indent="0">
              <a:buNone/>
            </a:pPr>
            <a:r>
              <a:rPr lang="en-US" sz="2800" dirty="0"/>
              <a:t>Together they receive program instructions, perform operations to execute instructions, and control other computer components.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8842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Internal Memory:</a:t>
            </a:r>
          </a:p>
          <a:p>
            <a:r>
              <a:rPr lang="en-US" sz="2800" dirty="0"/>
              <a:t>ROM: Read-Only Memory – unalterable instructions used during startup and for some other basic operations</a:t>
            </a:r>
          </a:p>
          <a:p>
            <a:pPr lvl="1"/>
            <a:r>
              <a:rPr lang="en-US" sz="2200" dirty="0"/>
              <a:t>Non-volatile (permanent)</a:t>
            </a:r>
          </a:p>
          <a:p>
            <a:r>
              <a:rPr lang="en-US" sz="2800" dirty="0"/>
              <a:t>RAM: Random Access Memory – holds data being worked on at any given time</a:t>
            </a:r>
          </a:p>
          <a:p>
            <a:pPr lvl="1"/>
            <a:r>
              <a:rPr lang="en-US" sz="2200" dirty="0"/>
              <a:t>Volatile (erased when computer is turned off)</a:t>
            </a:r>
          </a:p>
          <a:p>
            <a:pPr marL="0" indent="0">
              <a:buNone/>
            </a:pPr>
            <a:r>
              <a:rPr lang="en-US" sz="2800" dirty="0"/>
              <a:t>External Memory:</a:t>
            </a:r>
          </a:p>
          <a:p>
            <a:r>
              <a:rPr lang="en-US" sz="2800" dirty="0"/>
              <a:t>Magnetic storage such as hard disks</a:t>
            </a:r>
            <a:endParaRPr lang="en-US" sz="2400" dirty="0"/>
          </a:p>
          <a:p>
            <a:r>
              <a:rPr lang="en-US" sz="2800" dirty="0"/>
              <a:t>Optical storage such as CDs and DVDs</a:t>
            </a:r>
          </a:p>
          <a:p>
            <a:r>
              <a:rPr lang="en-US" sz="2800" dirty="0"/>
              <a:t>Solid state storage such as flash (USB) drives</a:t>
            </a:r>
            <a:endParaRPr lang="en-US" sz="20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1367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Used to allow the computer to communicate with us</a:t>
            </a:r>
          </a:p>
          <a:p>
            <a:r>
              <a:rPr lang="en-US" sz="2800" dirty="0"/>
              <a:t>screens</a:t>
            </a:r>
          </a:p>
          <a:p>
            <a:r>
              <a:rPr lang="en-US" sz="2800" dirty="0"/>
              <a:t>printers</a:t>
            </a:r>
          </a:p>
          <a:p>
            <a:r>
              <a:rPr lang="en-US" sz="2800" dirty="0"/>
              <a:t>speakers</a:t>
            </a:r>
          </a:p>
          <a:p>
            <a:r>
              <a:rPr lang="en-US" sz="2800" dirty="0"/>
              <a:t>External storage</a:t>
            </a:r>
          </a:p>
          <a:p>
            <a:r>
              <a:rPr lang="en-US" sz="2800" dirty="0"/>
              <a:t>and more…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74372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62400" cy="4691063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0.3</a:t>
            </a:r>
          </a:p>
          <a:p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A Brief History of the Internet</a:t>
            </a:r>
          </a:p>
        </p:txBody>
      </p:sp>
      <p:pic>
        <p:nvPicPr>
          <p:cNvPr id="7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100187"/>
            <a:ext cx="3810000" cy="2198838"/>
          </a:xfrm>
        </p:spPr>
      </p:pic>
    </p:spTree>
    <p:extLst>
      <p:ext uri="{BB962C8B-B14F-4D97-AF65-F5344CB8AC3E}">
        <p14:creationId xmlns:p14="http://schemas.microsoft.com/office/powerpoint/2010/main" val="3586701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Origins of the Internet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3EBB06D-72AB-7CFC-FC1A-775DBC939E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2062688"/>
            <a:ext cx="8229599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fontAlgn="base"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en-US" sz="3000" dirty="0">
                <a:solidFill>
                  <a:schemeClr val="accent1"/>
                </a:solidFill>
              </a:rPr>
              <a:t>1960s – ARPANET: </a:t>
            </a:r>
            <a:r>
              <a:rPr lang="en-US" altLang="en-US" sz="3000" dirty="0"/>
              <a:t>First network created by the U.S. Department of Defense to connect research computers.</a:t>
            </a:r>
          </a:p>
          <a:p>
            <a:pPr marL="0" indent="0" fontAlgn="base"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en-US" sz="3000" dirty="0">
                <a:solidFill>
                  <a:schemeClr val="accent1"/>
                </a:solidFill>
              </a:rPr>
              <a:t>1970s – TCP/IP Protocol: </a:t>
            </a:r>
            <a:r>
              <a:rPr lang="en-US" altLang="en-US" sz="3000" dirty="0"/>
              <a:t>Developed by Vint Cerf and Robert Kahn, set the standard for communication between computers.</a:t>
            </a:r>
          </a:p>
          <a:p>
            <a:pPr marL="0" indent="0" fontAlgn="base"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en-US" sz="3000" dirty="0">
                <a:solidFill>
                  <a:schemeClr val="accent1"/>
                </a:solidFill>
              </a:rPr>
              <a:t>1980s – Expansion: </a:t>
            </a:r>
            <a:r>
              <a:rPr lang="en-US" altLang="en-US" sz="3000" dirty="0"/>
              <a:t>Universities and institutions joined, creating a larger global network.</a:t>
            </a:r>
          </a:p>
        </p:txBody>
      </p:sp>
    </p:spTree>
    <p:extLst>
      <p:ext uri="{BB962C8B-B14F-4D97-AF65-F5344CB8AC3E}">
        <p14:creationId xmlns:p14="http://schemas.microsoft.com/office/powerpoint/2010/main" val="1342686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15B58-7E5A-F1AA-DA6B-578189DC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 and Its Impact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359FEC-F732-F382-140D-E1763AF865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93466"/>
            <a:ext cx="82296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solidFill>
                  <a:schemeClr val="accent1"/>
                </a:solidFill>
              </a:rPr>
              <a:t>1990s – World Wide Web: </a:t>
            </a:r>
            <a:r>
              <a:rPr lang="en-US" altLang="en-US" sz="2800" dirty="0"/>
              <a:t>Introduced by Tim Berners-Lee, making the internet easy to use with websites and browsers.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/>
              <a:t>Growth of email, search engines, and online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/>
              <a:t>Today, the internet powers social media, e-commerce, cloud, and AI.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/>
              <a:t>To build these online systems, programming languages (like JavaScript, Python, and Java) are essential</a:t>
            </a:r>
          </a:p>
        </p:txBody>
      </p:sp>
    </p:spTree>
    <p:extLst>
      <p:ext uri="{BB962C8B-B14F-4D97-AF65-F5344CB8AC3E}">
        <p14:creationId xmlns:p14="http://schemas.microsoft.com/office/powerpoint/2010/main" val="3936202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WWW?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WWW: </a:t>
            </a:r>
            <a:r>
              <a:rPr lang="en-US" sz="2800" dirty="0"/>
              <a:t>The World Wide Web (WWW or web) is a system of interlinked hypertext documents accessed via the Internet</a:t>
            </a:r>
          </a:p>
          <a:p>
            <a:pPr marL="0" indent="0">
              <a:buNone/>
            </a:pPr>
            <a:r>
              <a:rPr lang="en-US" sz="3600" dirty="0"/>
              <a:t>URL:</a:t>
            </a:r>
            <a:r>
              <a:rPr lang="en-US" sz="4000" dirty="0"/>
              <a:t> </a:t>
            </a:r>
            <a:r>
              <a:rPr lang="en-US" sz="2800" dirty="0"/>
              <a:t>The Uniform Resource Locator (URL) is the unique address of every resource on the web </a:t>
            </a:r>
          </a:p>
          <a:p>
            <a:pPr marL="0" indent="0" hangingPunct="0">
              <a:buNone/>
            </a:pPr>
            <a:endParaRPr lang="en-AU" sz="18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 hangingPunct="0">
              <a:buNone/>
            </a:pPr>
            <a:r>
              <a:rPr lang="en-AU" sz="1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http://www.pearson.com/educator/Computer/javascrpt.htm</a:t>
            </a:r>
            <a:endParaRPr lang="en-US" sz="1800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https://www.just.edu.so/</a:t>
            </a:r>
          </a:p>
        </p:txBody>
      </p:sp>
    </p:spTree>
    <p:extLst>
      <p:ext uri="{BB962C8B-B14F-4D97-AF65-F5344CB8AC3E}">
        <p14:creationId xmlns:p14="http://schemas.microsoft.com/office/powerpoint/2010/main" val="2795574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62400" cy="4691063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0.4</a:t>
            </a:r>
          </a:p>
          <a:p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What is Programming?</a:t>
            </a:r>
          </a:p>
        </p:txBody>
      </p:sp>
      <p:pic>
        <p:nvPicPr>
          <p:cNvPr id="7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100187"/>
            <a:ext cx="3810000" cy="2198838"/>
          </a:xfrm>
        </p:spPr>
      </p:pic>
    </p:spTree>
    <p:extLst>
      <p:ext uri="{BB962C8B-B14F-4D97-AF65-F5344CB8AC3E}">
        <p14:creationId xmlns:p14="http://schemas.microsoft.com/office/powerpoint/2010/main" val="3178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Programs are instructions in the computer’s memory. </a:t>
            </a:r>
          </a:p>
          <a:p>
            <a:pPr marL="0" indent="0">
              <a:buNone/>
            </a:pPr>
            <a:r>
              <a:rPr lang="en-US" sz="2800" dirty="0"/>
              <a:t>Applications are programs used for many things.</a:t>
            </a:r>
          </a:p>
          <a:p>
            <a:pPr marL="0" indent="0">
              <a:buNone/>
            </a:pPr>
            <a:r>
              <a:rPr lang="en-US" sz="2800" dirty="0"/>
              <a:t>Application Software:</a:t>
            </a:r>
          </a:p>
          <a:p>
            <a:r>
              <a:rPr lang="en-US" sz="2800" dirty="0"/>
              <a:t>Solves problems</a:t>
            </a:r>
          </a:p>
          <a:p>
            <a:r>
              <a:rPr lang="en-US" sz="2800" dirty="0"/>
              <a:t>Supplies information</a:t>
            </a:r>
          </a:p>
          <a:p>
            <a:r>
              <a:rPr lang="en-US" sz="2800" dirty="0"/>
              <a:t>Provides recreation</a:t>
            </a:r>
          </a:p>
          <a:p>
            <a:r>
              <a:rPr lang="en-US" sz="2800" dirty="0"/>
              <a:t>Enhances productivity</a:t>
            </a:r>
            <a:endParaRPr lang="en-US" sz="2200" dirty="0"/>
          </a:p>
          <a:p>
            <a:pPr marL="0" indent="0">
              <a:buNone/>
            </a:pPr>
            <a:r>
              <a:rPr lang="en-US" sz="2800" dirty="0"/>
              <a:t>System Software:</a:t>
            </a:r>
          </a:p>
          <a:p>
            <a:r>
              <a:rPr lang="en-US" sz="2800" dirty="0"/>
              <a:t>Controls computer hardware</a:t>
            </a:r>
            <a:endParaRPr lang="en-US" sz="2400" dirty="0"/>
          </a:p>
          <a:p>
            <a:r>
              <a:rPr lang="en-US" sz="2800" dirty="0"/>
              <a:t>Communicates with the user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61772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Programming and Scripting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Machine languages </a:t>
            </a:r>
          </a:p>
          <a:p>
            <a:pPr lvl="1"/>
            <a:r>
              <a:rPr lang="en-US" sz="2400" dirty="0"/>
              <a:t>All 0s and 1s</a:t>
            </a:r>
          </a:p>
          <a:p>
            <a:pPr lvl="1"/>
            <a:r>
              <a:rPr lang="en-US" sz="2400" dirty="0"/>
              <a:t>Communicates only at computer level</a:t>
            </a:r>
          </a:p>
          <a:p>
            <a:pPr lvl="1"/>
            <a:r>
              <a:rPr lang="en-US" sz="2400" dirty="0"/>
              <a:t>Example: </a:t>
            </a:r>
          </a:p>
          <a:p>
            <a:pPr lvl="2"/>
            <a:r>
              <a:rPr lang="en-US" sz="2000" dirty="0">
                <a:latin typeface="Courier New" pitchFamily="49" charset="0"/>
                <a:cs typeface="Courier New" pitchFamily="49" charset="0"/>
              </a:rPr>
              <a:t>0110 1101 1111 0111 0000 0001 0000 0000 </a:t>
            </a:r>
          </a:p>
          <a:p>
            <a:r>
              <a:rPr lang="en-US" sz="2800" dirty="0"/>
              <a:t>Assembly language</a:t>
            </a:r>
          </a:p>
          <a:p>
            <a:pPr lvl="1"/>
            <a:r>
              <a:rPr lang="en-US" sz="2400" dirty="0"/>
              <a:t>Symbolic representation of machine language</a:t>
            </a:r>
          </a:p>
          <a:p>
            <a:pPr lvl="1"/>
            <a:r>
              <a:rPr lang="en-US" sz="2400" dirty="0"/>
              <a:t>Example: </a:t>
            </a:r>
          </a:p>
          <a:p>
            <a:pPr lvl="2"/>
            <a:r>
              <a:rPr lang="en-US" sz="2000" dirty="0">
                <a:latin typeface="Courier New" pitchFamily="49" charset="0"/>
                <a:cs typeface="Courier New" pitchFamily="49" charset="0"/>
              </a:rPr>
              <a:t>ADD A, B </a:t>
            </a:r>
          </a:p>
          <a:p>
            <a:r>
              <a:rPr lang="en-US" sz="2800" dirty="0"/>
              <a:t>High-level languages</a:t>
            </a:r>
          </a:p>
          <a:p>
            <a:pPr lvl="1"/>
            <a:r>
              <a:rPr lang="en-US" sz="2400" dirty="0"/>
              <a:t>Contains English words and phrases</a:t>
            </a:r>
          </a:p>
          <a:p>
            <a:pPr lvl="1"/>
            <a:r>
              <a:rPr lang="en-US" sz="2400" dirty="0"/>
              <a:t>Must be compiled or interpreted for computer</a:t>
            </a:r>
          </a:p>
          <a:p>
            <a:pPr lvl="1"/>
            <a:r>
              <a:rPr lang="en-US" sz="2400" dirty="0"/>
              <a:t>Examples: C++, Java, Visual Basic, JavaScript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43627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Programming and Scripting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 languages are compiled</a:t>
            </a:r>
          </a:p>
          <a:p>
            <a:pPr lvl="1"/>
            <a:r>
              <a:rPr lang="en-US" sz="2400" dirty="0"/>
              <a:t>A compiler works before the program is executed</a:t>
            </a:r>
          </a:p>
          <a:p>
            <a:pPr lvl="1"/>
            <a:r>
              <a:rPr lang="en-US" sz="2400" dirty="0"/>
              <a:t>Example: C++, Java</a:t>
            </a:r>
          </a:p>
          <a:p>
            <a:r>
              <a:rPr lang="en-US" sz="3200" dirty="0"/>
              <a:t>Scripting languages are interpreted</a:t>
            </a:r>
          </a:p>
          <a:p>
            <a:pPr lvl="1"/>
            <a:r>
              <a:rPr lang="en-US" sz="2400" dirty="0"/>
              <a:t>An interpreter works while the program is running</a:t>
            </a:r>
          </a:p>
          <a:p>
            <a:pPr lvl="1"/>
            <a:r>
              <a:rPr lang="en-US" sz="2400" dirty="0"/>
              <a:t>Example: JavaScript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0451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9DC7E-BE81-2187-DE71-F12D8B22C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478717-E362-10F8-27C9-A3A7A808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62400" cy="4691063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0.5</a:t>
            </a:r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Web Development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34B2BB-623F-C96E-63F6-477A0157F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448" y="1752600"/>
            <a:ext cx="4197352" cy="3201092"/>
          </a:xfrm>
        </p:spPr>
      </p:pic>
    </p:spTree>
    <p:extLst>
      <p:ext uri="{BB962C8B-B14F-4D97-AF65-F5344CB8AC3E}">
        <p14:creationId xmlns:p14="http://schemas.microsoft.com/office/powerpoint/2010/main" val="1022490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6518-49D7-DD2D-0D1B-330037A9B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What is Web Development?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48712-DC0D-A023-EE15-053B86AB9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9600" dirty="0"/>
              <a:t>Web development, often simply referred to as "web dev," is the art and science of building and maintaining websites and web applications.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9600" dirty="0"/>
              <a:t>It encompasses various aspects, including: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9600" b="1" dirty="0">
                <a:solidFill>
                  <a:schemeClr val="accent1"/>
                </a:solidFill>
              </a:rPr>
              <a:t>Front-End Development (Client-Side): </a:t>
            </a:r>
            <a:r>
              <a:rPr lang="en-US" sz="9600" dirty="0"/>
              <a:t>This involves creating the user interface and ensuring that the web content is visually appealing and interactive. Front-end developers use HTML, CSS, and JavaScript to achieve this.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9600" b="1" dirty="0">
                <a:solidFill>
                  <a:schemeClr val="accent1"/>
                </a:solidFill>
              </a:rPr>
              <a:t>Back-End Development (Server-Side): </a:t>
            </a:r>
            <a:r>
              <a:rPr lang="en-US" sz="9600" dirty="0"/>
              <a:t>This focuses on the server-side of web applications. Back-end developers work on server configuration, databases, and server-side scripting languages like Node.js, Python, Ruby, or PHP.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04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AE17-345B-20DF-BF9E-B970D30C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Why Web Development Matters?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EE0E4-D546-A56C-6400-C3DAF0F11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dirty="0"/>
              <a:t>Web development is crucial for several reasons: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Global Reach: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Websites and web apps can be accessed by anyone with an internet connection, making them accessible on a global scale.</a:t>
            </a:r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Business and E-Commerce: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Many businesses rely on websites and online stores to reach customers and conduct transactions.</a:t>
            </a:r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User Interaction: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Web development enables interactivity and user engagement, allowing users to interact with web content, fill out forms, and receive dynamic responses.</a:t>
            </a:r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Information Dissemination: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Websites are a primary source of information dissemination, from news portals to educational resources.</a:t>
            </a:r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Job Opportunities: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Web development offers diverse job opportunities, from front-end and back-end developers to web designers and full-stack developers.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987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62400" cy="4691063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0.6</a:t>
            </a:r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JavaScript</a:t>
            </a:r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Programming language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064CCE5-BA7C-8E6E-FE23-58F1118CA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828800"/>
            <a:ext cx="4044950" cy="3352800"/>
          </a:xfrm>
        </p:spPr>
      </p:pic>
    </p:spTree>
    <p:extLst>
      <p:ext uri="{BB962C8B-B14F-4D97-AF65-F5344CB8AC3E}">
        <p14:creationId xmlns:p14="http://schemas.microsoft.com/office/powerpoint/2010/main" val="2649488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JavaScript?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en-US" dirty="0"/>
              <a:t>JavaScript, often abbreviated as JS, is a versatile and widely used</a:t>
            </a:r>
          </a:p>
          <a:p>
            <a:pPr algn="just">
              <a:buNone/>
            </a:pPr>
            <a:r>
              <a:rPr lang="en-US" dirty="0"/>
              <a:t>programming language. It is primarily employed for client-side scripting in</a:t>
            </a:r>
          </a:p>
          <a:p>
            <a:pPr algn="just">
              <a:buNone/>
            </a:pPr>
            <a:r>
              <a:rPr lang="en-US" dirty="0"/>
              <a:t>web development. JavaScript enables you to:</a:t>
            </a:r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Add Interactivity: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You can create interactive elements on web pages, such as forms, animations, and real-time updates.</a:t>
            </a:r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Respond to User Actions: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JavaScript allows web pages to respond to user interactions like clicks, mouse movements, and keyboard input.</a:t>
            </a:r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Validate and Manipulate Data: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You can validate user input, manipulate data, and perform calculations on the client side.</a:t>
            </a:r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Communicate with Servers: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JavaScript can make asynchronous requests to servers, retrieve data, and update web pages without reloading them.</a:t>
            </a:r>
          </a:p>
        </p:txBody>
      </p:sp>
    </p:spTree>
    <p:extLst>
      <p:ext uri="{BB962C8B-B14F-4D97-AF65-F5344CB8AC3E}">
        <p14:creationId xmlns:p14="http://schemas.microsoft.com/office/powerpoint/2010/main" val="2603003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5D7EA-279A-467B-298D-F7145ECC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3E84D-8E9E-BB66-8F68-163FD0BE4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/>
              <a:t>JavaScript</a:t>
            </a:r>
            <a:r>
              <a:rPr lang="en-US" b="1" dirty="0">
                <a:solidFill>
                  <a:schemeClr val="accent3"/>
                </a:solidFill>
              </a:rPr>
              <a:t>  </a:t>
            </a:r>
            <a:r>
              <a:rPr lang="en-US" dirty="0"/>
              <a:t>was initially created to </a:t>
            </a:r>
            <a:r>
              <a:rPr lang="en-US" i="1" dirty="0"/>
              <a:t>“make web pages alive”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The programs in this language are called </a:t>
            </a:r>
            <a:r>
              <a:rPr lang="en-US" b="1" dirty="0"/>
              <a:t>scripts</a:t>
            </a:r>
            <a:r>
              <a:rPr lang="en-US" dirty="0">
                <a:solidFill>
                  <a:schemeClr val="accent3"/>
                </a:solidFill>
              </a:rPr>
              <a:t>. </a:t>
            </a:r>
            <a:r>
              <a:rPr lang="en-US" dirty="0"/>
              <a:t>They can be written right in a web page’s HTML and run automatically as the page loads.</a:t>
            </a:r>
          </a:p>
          <a:p>
            <a:pPr marL="0" indent="0" algn="just">
              <a:buNone/>
            </a:pPr>
            <a:r>
              <a:rPr lang="en-US" dirty="0"/>
              <a:t>Scripts are provided and executed as plain text. They don’t need special preparation or compilation to run.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In this aspect, JavaScript is very different from another language called </a:t>
            </a:r>
            <a:r>
              <a:rPr lang="en-US" b="1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</a:t>
            </a:r>
            <a:r>
              <a:rPr lang="en-US" b="1" dirty="0">
                <a:solidFill>
                  <a:srgbClr val="FF0000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750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07D24-9841-C2A5-2C7B-1D68996E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A9847-0A8A-E072-E113-6966E1BF9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JavaScript, created by Brendan Eich in 1995 while he was at Netscape, is a versatile programming language that has had a profound impact on web development and beyond. Here's a brief summary of its history:</a:t>
            </a:r>
          </a:p>
          <a:p>
            <a:r>
              <a:rPr lang="en-US" b="1" dirty="0"/>
              <a:t>Birth (1995):</a:t>
            </a:r>
            <a:r>
              <a:rPr lang="en-US" dirty="0"/>
              <a:t> JavaScript was introduced in Netscape Navigator 2.0 as a way to add interactivity to static web pages. Originally named "Mocha" and later "</a:t>
            </a:r>
            <a:r>
              <a:rPr lang="en-US" dirty="0" err="1"/>
              <a:t>LiveScript</a:t>
            </a:r>
            <a:r>
              <a:rPr lang="en-US" dirty="0"/>
              <a:t>," it was eventually named JavaScript.</a:t>
            </a:r>
          </a:p>
          <a:p>
            <a:r>
              <a:rPr lang="en-US" b="1" dirty="0"/>
              <a:t>Standardization (1996):</a:t>
            </a:r>
            <a:r>
              <a:rPr lang="en-US" dirty="0"/>
              <a:t> JavaScript's standardization process began in collaboration with the European Computer Manufacturers Association (ECMA). The first official specification, ECMAScript, was released in 1997 and continues to evolve.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4941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1BB5-0927-B6A5-2B6A-6C69A78E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0DB37-34F0-2C97-2750-6CBBE5D43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DOM and Ajax (Early 2000s):</a:t>
            </a:r>
            <a:r>
              <a:rPr lang="en-US" dirty="0"/>
              <a:t> JavaScript gained importance with the introduction of the Document Object Model (DOM), allowing dynamic manipulation of web content. Ajax emerged, enabling asynchronous data exchange between the browser and server.</a:t>
            </a:r>
          </a:p>
          <a:p>
            <a:r>
              <a:rPr lang="en-US" b="1" dirty="0"/>
              <a:t>JavaScript Frameworks (Mid-2000s):</a:t>
            </a:r>
            <a:r>
              <a:rPr lang="en-US" dirty="0"/>
              <a:t> Frameworks like jQuery simplified DOM manipulation and cross-browser compatibility, contributing to the growth of web applications.</a:t>
            </a:r>
          </a:p>
          <a:p>
            <a:r>
              <a:rPr lang="en-US" b="1" dirty="0"/>
              <a:t>HTML5 and Modern Web (Late 2000s - Early 2010s):</a:t>
            </a:r>
            <a:r>
              <a:rPr lang="en-US" dirty="0"/>
              <a:t> JavaScript played a vital role in HTML5's development, which introduced native multimedia support and advanced form handling.</a:t>
            </a:r>
          </a:p>
          <a:p>
            <a:r>
              <a:rPr lang="en-US" b="1" dirty="0"/>
              <a:t>Node.js (2009):</a:t>
            </a:r>
            <a:r>
              <a:rPr lang="en-US" dirty="0"/>
              <a:t> Node.js brought JavaScript to the server side, unifying the language stack and allowing for scalable server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945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28723-D2C1-1A1B-C483-569302B2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F8AE4-49FF-DFA0-E7DF-61CA05DB7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ECMAScript 6 (2015):</a:t>
            </a:r>
            <a:r>
              <a:rPr lang="en-US" dirty="0"/>
              <a:t> ES6 introduced significant enhancements like arrow functions, classes, and template literals, making JavaScript more developer-friendly.</a:t>
            </a:r>
          </a:p>
          <a:p>
            <a:r>
              <a:rPr lang="en-US" b="1" dirty="0"/>
              <a:t>JavaScript Everywhere (Present):</a:t>
            </a:r>
            <a:r>
              <a:rPr lang="en-US" dirty="0"/>
              <a:t> JavaScript is now used beyond web browsers, powering mobile apps (React Native, Angular, Vue.js), desktop applications (Electron), and IoT devices.</a:t>
            </a:r>
          </a:p>
          <a:p>
            <a:r>
              <a:rPr lang="en-US" dirty="0"/>
              <a:t>JavaScript keeps improving through ECMAScript updates, meeting the needs of modern development. Tools like Babel ensure it works on older browsers.</a:t>
            </a:r>
          </a:p>
          <a:p>
            <a:r>
              <a:rPr lang="en-US" dirty="0"/>
              <a:t>It has grown from a simple web scripting tool into a powerful language used everywhere in programming and web development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0389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D42E-6B86-AE63-94EE-50ECF49E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JavaScript's Role in Modern Web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A54CE-8E6A-3E75-9367-94A1A4334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 contemporary web development, JavaScript is indispensable:</a:t>
            </a:r>
          </a:p>
          <a:p>
            <a:r>
              <a:rPr lang="en-US" b="1" dirty="0"/>
              <a:t>Single-Page Applications (SPAs):</a:t>
            </a:r>
            <a:r>
              <a:rPr lang="en-US" dirty="0"/>
              <a:t> SPAs, which load a single HTML page and dynamically update content, rely heavily on JavaScript frameworks like React, Angular, and Vue.js.</a:t>
            </a:r>
          </a:p>
          <a:p>
            <a:r>
              <a:rPr lang="en-US" b="1" dirty="0"/>
              <a:t>Mobile Development:</a:t>
            </a:r>
            <a:r>
              <a:rPr lang="en-US" dirty="0"/>
              <a:t> JavaScript is used for building mobile apps using technologies like React Native and Apache Cordova.</a:t>
            </a:r>
          </a:p>
          <a:p>
            <a:r>
              <a:rPr lang="en-US" b="1" dirty="0"/>
              <a:t>Server-Side JavaScript:</a:t>
            </a:r>
            <a:r>
              <a:rPr lang="en-US" dirty="0"/>
              <a:t> Node.js, a server-side JavaScript runtime, enables developers to use JavaScript for back-end development.</a:t>
            </a:r>
          </a:p>
          <a:p>
            <a:r>
              <a:rPr lang="en-US" b="1" dirty="0"/>
              <a:t>Responsive Design:</a:t>
            </a:r>
            <a:r>
              <a:rPr lang="en-US" dirty="0"/>
              <a:t> JavaScript plays a role in making web applications responsive to various devices and screen sizes.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097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D390-D7AD-511B-4A59-59A66BD2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in the Job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72E16-8F5B-964E-5712-D9F2247CE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JavaScript proficiency is in high demand, and it offers a wide range of career</a:t>
            </a:r>
          </a:p>
          <a:p>
            <a:r>
              <a:rPr lang="en-US" dirty="0"/>
              <a:t>opportunities, including:</a:t>
            </a:r>
          </a:p>
          <a:p>
            <a:r>
              <a:rPr lang="en-US" b="1" dirty="0"/>
              <a:t>Front-End Developer:</a:t>
            </a:r>
            <a:r>
              <a:rPr lang="en-US" dirty="0"/>
              <a:t> Specializes in creating user interfaces and interactive web elements using HTML, CSS, and JavaScript.</a:t>
            </a:r>
          </a:p>
          <a:p>
            <a:r>
              <a:rPr lang="en-US" b="1" dirty="0"/>
              <a:t>Back-End Developer:</a:t>
            </a:r>
            <a:r>
              <a:rPr lang="en-US" dirty="0"/>
              <a:t> Focuses on server-side development, working with databases, APIs, and server technologies while often using JavaScript.</a:t>
            </a:r>
          </a:p>
          <a:p>
            <a:r>
              <a:rPr lang="en-US" b="1" dirty="0"/>
              <a:t>Full-Stack Developer:</a:t>
            </a:r>
            <a:r>
              <a:rPr lang="en-US" dirty="0"/>
              <a:t> Masters both front-end and back-end development, making them versatile in building complete web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621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62400" cy="4691063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0.7</a:t>
            </a:r>
          </a:p>
          <a:p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Set up your</a:t>
            </a:r>
          </a:p>
          <a:p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  environment</a:t>
            </a:r>
          </a:p>
        </p:txBody>
      </p:sp>
      <p:pic>
        <p:nvPicPr>
          <p:cNvPr id="7" name="Picture 6" descr="png-transparent-visual-studio-code-removebg-preview.png">
            <a:extLst>
              <a:ext uri="{FF2B5EF4-FFF2-40B4-BE49-F238E27FC236}">
                <a16:creationId xmlns:a16="http://schemas.microsoft.com/office/drawing/2014/main" id="{3646A295-5A08-5CDC-8B00-2BF83A2BD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2" y="1749457"/>
            <a:ext cx="3962396" cy="33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488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B7D1E-225A-C308-99B6-CCF91F10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Up Your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41246-5F3A-5000-401D-A76982C5B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you start writing JavaScript code and diving into web development,</a:t>
            </a:r>
          </a:p>
          <a:p>
            <a:r>
              <a:rPr lang="en-US" dirty="0"/>
              <a:t>it's essential to have the right tools and environment in place. In this section,</a:t>
            </a:r>
          </a:p>
          <a:p>
            <a:r>
              <a:rPr lang="en-US" dirty="0"/>
              <a:t>we'll guide you through setting up your development environment, which</a:t>
            </a:r>
          </a:p>
          <a:p>
            <a:r>
              <a:rPr lang="en-US" dirty="0"/>
              <a:t>includes selecting a text editor and configuring a web browser.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09883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01B75-07C3-1E9D-9DA2-FAC4EBC56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Text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4AE44-78ED-30CF-39AA-9545EBFB8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80000"/>
              </a:lnSpc>
            </a:pPr>
            <a:r>
              <a:rPr lang="en-US" sz="2200" dirty="0"/>
              <a:t>A text editor is your primary tool for writing and editing code. Here are some popular text editors used by web developers:</a:t>
            </a:r>
          </a:p>
          <a:p>
            <a:pPr algn="just">
              <a:lnSpc>
                <a:spcPct val="80000"/>
              </a:lnSpc>
            </a:pPr>
            <a:r>
              <a:rPr lang="en-US" sz="2200" dirty="0">
                <a:solidFill>
                  <a:schemeClr val="accent1"/>
                </a:solidFill>
              </a:rPr>
              <a:t>Visual Studio Code (VS Code): </a:t>
            </a:r>
            <a:r>
              <a:rPr lang="en-US" sz="2200" dirty="0"/>
              <a:t>A free, open-source code editor developed by Microsoft. It's highly extensible and offers features like syntax highlighting, code completion, and a rich ecosystem of extensions.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sz="2200" dirty="0"/>
          </a:p>
        </p:txBody>
      </p:sp>
      <p:pic>
        <p:nvPicPr>
          <p:cNvPr id="4" name="Picture 3" descr="png-transparent-visual-studio-code-removebg-preview.png">
            <a:extLst>
              <a:ext uri="{FF2B5EF4-FFF2-40B4-BE49-F238E27FC236}">
                <a16:creationId xmlns:a16="http://schemas.microsoft.com/office/drawing/2014/main" id="{9FD3C3DA-C1FF-FC5B-17ED-23CCC2DC2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863181"/>
            <a:ext cx="2286000" cy="193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222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E48BA-BD55-EF87-8B9B-807CBEF2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E5D41-BA39-A18F-8F6E-F29A0046F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2400" b="1" dirty="0">
                <a:solidFill>
                  <a:schemeClr val="accent1"/>
                </a:solidFill>
              </a:rPr>
              <a:t>Sublime Text: </a:t>
            </a:r>
            <a:r>
              <a:rPr lang="en-US" sz="2400" dirty="0"/>
              <a:t>A lightweight and fast text editor known for its speed and simplicity. Sublime Text is customizable and has a large community of users.</a:t>
            </a:r>
          </a:p>
          <a:p>
            <a:pPr algn="just">
              <a:lnSpc>
                <a:spcPct val="90000"/>
              </a:lnSpc>
            </a:pPr>
            <a:r>
              <a:rPr lang="en-US" sz="2400" b="1" dirty="0">
                <a:solidFill>
                  <a:schemeClr val="accent1"/>
                </a:solidFill>
              </a:rPr>
              <a:t>Atom: </a:t>
            </a:r>
            <a:r>
              <a:rPr lang="en-US" sz="2400" dirty="0"/>
              <a:t>An open-source, hackable text editor created by GitHub. Atom is highly customizable and comes with a package manager for adding extensions.</a:t>
            </a:r>
          </a:p>
          <a:p>
            <a:pPr algn="just">
              <a:lnSpc>
                <a:spcPct val="90000"/>
              </a:lnSpc>
            </a:pPr>
            <a:r>
              <a:rPr lang="en-US" sz="2400" b="1" dirty="0">
                <a:solidFill>
                  <a:schemeClr val="accent1"/>
                </a:solidFill>
              </a:rPr>
              <a:t>Brackets: </a:t>
            </a:r>
            <a:r>
              <a:rPr lang="en-US" sz="2400" dirty="0"/>
              <a:t>An open-source code editor designed for web development by Adobe. It offers live preview and visual tools for web designers.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E21C84-7C17-92A4-3644-84215665F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105400"/>
            <a:ext cx="1390650" cy="1381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3A22DA-765E-A56C-D353-7594FF005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5172074"/>
            <a:ext cx="1238250" cy="1247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7F73FF-26D5-B318-22C5-F17F339BF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425" y="5201444"/>
            <a:ext cx="11049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957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browser?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US" sz="2800" dirty="0"/>
              <a:t>A browser is a software application that is used to retrieve and display information fro the web</a:t>
            </a:r>
          </a:p>
          <a:p>
            <a:pPr algn="just">
              <a:lnSpc>
                <a:spcPct val="80000"/>
              </a:lnSpc>
            </a:pPr>
            <a:r>
              <a:rPr lang="en-US" sz="2800" dirty="0"/>
              <a:t>Uses the client/server model</a:t>
            </a:r>
          </a:p>
          <a:p>
            <a:pPr marL="742950" lvl="2" indent="-342900" algn="just">
              <a:lnSpc>
                <a:spcPct val="80000"/>
              </a:lnSpc>
            </a:pPr>
            <a:r>
              <a:rPr lang="en-US" sz="2800" dirty="0"/>
              <a:t>Your computer is the client</a:t>
            </a:r>
          </a:p>
          <a:p>
            <a:pPr marL="742950" lvl="2" indent="-342900" algn="just">
              <a:lnSpc>
                <a:spcPct val="80000"/>
              </a:lnSpc>
            </a:pPr>
            <a:r>
              <a:rPr lang="en-US" sz="2800" dirty="0"/>
              <a:t>The place where the page you request “lives” is the server</a:t>
            </a:r>
          </a:p>
        </p:txBody>
      </p:sp>
    </p:spTree>
    <p:extLst>
      <p:ext uri="{BB962C8B-B14F-4D97-AF65-F5344CB8AC3E}">
        <p14:creationId xmlns:p14="http://schemas.microsoft.com/office/powerpoint/2010/main" val="23084986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089D8-4E9A-5610-BA94-2E9E5A8E2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Your Web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9F37-DEF7-B326-335D-37EAFA42A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Your web browser is not just a tool for testing web pages but also an essential part of your development environment. Here's how to configure it:</a:t>
            </a:r>
          </a:p>
          <a:p>
            <a:r>
              <a:rPr lang="en-US" sz="2400" dirty="0"/>
              <a:t>Google Chrome: Chrome is widely used by developers. Install the browser if you haven't already. </a:t>
            </a:r>
          </a:p>
          <a:p>
            <a:endParaRPr lang="en-US" dirty="0"/>
          </a:p>
        </p:txBody>
      </p:sp>
      <p:pic>
        <p:nvPicPr>
          <p:cNvPr id="4" name="Picture 3" descr="Google_Chrome_icon_(2011).png">
            <a:extLst>
              <a:ext uri="{FF2B5EF4-FFF2-40B4-BE49-F238E27FC236}">
                <a16:creationId xmlns:a16="http://schemas.microsoft.com/office/drawing/2014/main" id="{40AF052B-D822-A195-5D8B-A76A874A0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775" y="3863181"/>
            <a:ext cx="2222450" cy="222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296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3FD42-EAFD-974B-1EAE-C626A39BB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Your Web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9370D-7AB9-9A9C-9336-267E62647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accent1"/>
                </a:solidFill>
              </a:rPr>
              <a:t>Chrome </a:t>
            </a:r>
            <a:r>
              <a:rPr lang="en-US" sz="2400" b="1" dirty="0" err="1">
                <a:solidFill>
                  <a:schemeClr val="accent1"/>
                </a:solidFill>
              </a:rPr>
              <a:t>DevTools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is a set of web developer tools built directly into the Google Chrome browser.</a:t>
            </a:r>
          </a:p>
          <a:p>
            <a:r>
              <a:rPr lang="en-US" sz="2400" dirty="0"/>
              <a:t>To access developer tools, press F12 or Ctrl + Shift + I (Windows/Linux) or </a:t>
            </a:r>
            <a:r>
              <a:rPr lang="en-US" sz="2400" dirty="0" err="1"/>
              <a:t>Cmd</a:t>
            </a:r>
            <a:r>
              <a:rPr lang="en-US" sz="2400" dirty="0"/>
              <a:t> + Option + I (Mac).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A58A03-8E0F-BE12-0531-D02581A1A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458980"/>
            <a:ext cx="6705600" cy="266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463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811E0-7C8D-A3D9-376D-A27320D9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Your Web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C9DCD-2F7B-DF10-B137-D979B4F05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Mozilla Firefox: </a:t>
            </a:r>
            <a:r>
              <a:rPr lang="en-US" sz="2400" dirty="0"/>
              <a:t>Firefox is another popular browser for development. Install it and access developer tools by pressing </a:t>
            </a:r>
            <a:r>
              <a:rPr lang="en-US" sz="2400" b="1" dirty="0">
                <a:solidFill>
                  <a:schemeClr val="accent1"/>
                </a:solidFill>
              </a:rPr>
              <a:t>F12</a:t>
            </a:r>
            <a:r>
              <a:rPr lang="en-US" sz="2400" dirty="0"/>
              <a:t> or </a:t>
            </a:r>
            <a:r>
              <a:rPr lang="en-US" sz="2400" b="1" dirty="0">
                <a:solidFill>
                  <a:schemeClr val="accent1"/>
                </a:solidFill>
              </a:rPr>
              <a:t>Ctrl + Shift + I (Windows/Linux) </a:t>
            </a:r>
            <a:r>
              <a:rPr lang="en-US" sz="2400" dirty="0"/>
              <a:t>or</a:t>
            </a:r>
            <a:r>
              <a:rPr lang="en-US" sz="2400" b="1" dirty="0"/>
              <a:t> </a:t>
            </a:r>
            <a:r>
              <a:rPr lang="en-US" sz="2400" b="1" dirty="0" err="1"/>
              <a:t>Cmd</a:t>
            </a:r>
            <a:r>
              <a:rPr lang="en-US" sz="2400" b="1" dirty="0"/>
              <a:t> + Option + I (Mac).</a:t>
            </a:r>
          </a:p>
          <a:p>
            <a:r>
              <a:rPr lang="en-US" sz="2400" b="1" dirty="0"/>
              <a:t>Other Browsers: </a:t>
            </a:r>
            <a:r>
              <a:rPr lang="en-US" sz="2400" dirty="0"/>
              <a:t>While Chrome and Firefox are common choices, it's a good practice to test your code in multiple browsers, including Microsoft Edge, Safari, and others.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4670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84820-48E5-4453-8A89-722BFF260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E837A5-0229-94F5-1A82-A95BC0BC4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62400" cy="4691063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0.8</a:t>
            </a:r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Writing your</a:t>
            </a:r>
          </a:p>
          <a:p>
            <a:pPr algn="ctr"/>
            <a:r>
              <a:rPr lang="en-US" sz="4000" dirty="0">
                <a:solidFill>
                  <a:srgbClr val="0070C0"/>
                </a:solidFill>
                <a:latin typeface="Arial Rounded MT Bold" pitchFamily="34" charset="0"/>
              </a:rPr>
              <a:t>Frist program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9C7392-B08F-3D61-D302-7D1CCD3B9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1728787"/>
            <a:ext cx="443865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74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202C-B529-304B-0DE9-0EBFD6656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First JavaScript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ACC97-D4E4-4E5A-9A5A-82971F40D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/>
              <a:t>Now that you have your development environment set up, let’s write your first JavaScript code. We'll begin with a simple "Hello, World!" program to get you acquainted with the basic structure of a JavaScript script and how to execute it within a web page.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019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FD5C-1FD2-A4ED-A435-D45CB0575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"Hello, World!"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64AE7-CB67-ABF8-60AB-AF3CA3CC2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Open your chosen text editor (e.g., Visual Studio Code, Sublime Text, Atom) and follow these steps:</a:t>
            </a:r>
          </a:p>
          <a:p>
            <a:r>
              <a:rPr lang="en-US" sz="2400" dirty="0"/>
              <a:t>Step-1: Create a new file with the ".html" extension. You can name it "index.html" or something similar.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44E9CF-546A-2288-972D-1C33C7273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785" y="3581400"/>
            <a:ext cx="5220429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816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D16D3-7C4B-5708-E7AA-B74EF542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"Hello, World!"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197B6-67C5-2233-BB52-C39F2E045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</a:pPr>
            <a:r>
              <a:rPr lang="en-US" sz="2400" b="1" dirty="0"/>
              <a:t>Stept-2: </a:t>
            </a:r>
            <a:r>
              <a:rPr lang="en-US" sz="2400" dirty="0"/>
              <a:t>Inside this HTML file, create a basic HTML structure by typing the </a:t>
            </a:r>
            <a:r>
              <a:rPr lang="en-US" sz="2400" dirty="0" err="1"/>
              <a:t>cfollowing</a:t>
            </a:r>
            <a:r>
              <a:rPr lang="en-US" sz="2400" dirty="0"/>
              <a:t>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DD3E9-3F12-5037-A2B6-2B5E8B2B6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04797"/>
            <a:ext cx="7278116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822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D15A5-AA05-4C40-1F11-A97139EE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"Hello, World!"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C4BCF-4000-B66C-13AF-FF2585227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</a:pPr>
            <a:r>
              <a:rPr lang="en-US" sz="2400" b="1" dirty="0"/>
              <a:t>Stept-3: </a:t>
            </a:r>
            <a:r>
              <a:rPr lang="en-US" sz="2400" dirty="0"/>
              <a:t>Now, let's add a &lt;script&gt; tag inside the &lt;body&gt; section of the HTML to include our JavaScript code. Place it just before the closing &lt;/body&gt; tag: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D3B229-011A-9EC7-0F1F-E4679D5DD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24200"/>
            <a:ext cx="74676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71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4322-2B55-FCA4-9A91-3059AAC40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"Hello, World!"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FB17C-C847-2EAF-973B-86637B226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</a:pPr>
            <a:r>
              <a:rPr lang="en-US" sz="2400" b="1" dirty="0"/>
              <a:t>Stept-4: </a:t>
            </a:r>
            <a:r>
              <a:rPr lang="en-US" sz="2400" dirty="0"/>
              <a:t>Inside the &lt;script&gt; tag, write your "Hello, World!" JavaScript code.</a:t>
            </a:r>
          </a:p>
          <a:p>
            <a:r>
              <a:rPr lang="en-US" sz="2400" dirty="0"/>
              <a:t>In JavaScript, you can use the console.log() method to print messages to the browser's console: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85B77-9D57-D934-EED9-904ED7C9F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581400"/>
            <a:ext cx="7239000" cy="236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8189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26E8B-B6E7-08EE-25FC-5A29332C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B4FDE-4B0C-1117-F9AB-9E911E5EF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"Hello, World!"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79953-7F4A-BEEE-54EB-E751CDA10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sz="2400" dirty="0"/>
              <a:t>With your code in place, it's time to execute it in a web browser: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Save the HTML file (e.g., "index.html") in your workspace or chosen directory.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Open this HTML file using your web browser. You can either double-click the file or use your browser's "Open File" option.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To view the result of your JavaScript code, open the browser's developer console. Typically, you can do this by pressing F12 or Ctrl + Shift + I (Windows/Linux) or </a:t>
            </a:r>
            <a:r>
              <a:rPr lang="en-US" sz="2400" dirty="0" err="1"/>
              <a:t>Cmd</a:t>
            </a:r>
            <a:r>
              <a:rPr lang="en-US" sz="2400" dirty="0"/>
              <a:t> + Option + I (Mac). Navigate to the "Console" tab.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You should see "Hello, World!" displayed in the console. Congratulations! You've successfully executed your first JavaScript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117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E90A-824C-CDF7-6ECC-782D9A67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"Hello, World!" in JavaScript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F9FA5-17A5-2C88-A6F0-89B0A562C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1200"/>
            <a:ext cx="73152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373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09619-5CC9-27CD-EB40-6694BAB12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9163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2884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2452</Words>
  <Application>Microsoft Office PowerPoint</Application>
  <PresentationFormat>On-screen Show (4:3)</PresentationFormat>
  <Paragraphs>237</Paragraphs>
  <Slides>46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Arial Rounded MT Bold</vt:lpstr>
      <vt:lpstr>Calibri</vt:lpstr>
      <vt:lpstr>Courier New</vt:lpstr>
      <vt:lpstr>Office Theme</vt:lpstr>
      <vt:lpstr>Introduction to JavaScript Programming Creating Interactive Web Pages</vt:lpstr>
      <vt:lpstr>PowerPoint Presentation</vt:lpstr>
      <vt:lpstr>What is a computer?</vt:lpstr>
      <vt:lpstr>Computers in Modern Technology</vt:lpstr>
      <vt:lpstr>PowerPoint Presentation</vt:lpstr>
      <vt:lpstr>Basic input-processing-output model</vt:lpstr>
      <vt:lpstr>Input</vt:lpstr>
      <vt:lpstr>Processing</vt:lpstr>
      <vt:lpstr>Storage</vt:lpstr>
      <vt:lpstr>Output</vt:lpstr>
      <vt:lpstr>PowerPoint Presentation</vt:lpstr>
      <vt:lpstr>Origins of the Internet</vt:lpstr>
      <vt:lpstr>The Internet and Its Impact</vt:lpstr>
      <vt:lpstr>What is a WWW?</vt:lpstr>
      <vt:lpstr>PowerPoint Presentation</vt:lpstr>
      <vt:lpstr>Software</vt:lpstr>
      <vt:lpstr>Programming and Scripting Languages</vt:lpstr>
      <vt:lpstr>Programming and Scripting Languages</vt:lpstr>
      <vt:lpstr>PowerPoint Presentation</vt:lpstr>
      <vt:lpstr>What is Web Development?</vt:lpstr>
      <vt:lpstr>Why Web Development Matters?</vt:lpstr>
      <vt:lpstr>PowerPoint Presentation</vt:lpstr>
      <vt:lpstr>What is JavaScript?</vt:lpstr>
      <vt:lpstr>Cont…</vt:lpstr>
      <vt:lpstr>History of JavaScript</vt:lpstr>
      <vt:lpstr>Cont…</vt:lpstr>
      <vt:lpstr>Cont…</vt:lpstr>
      <vt:lpstr>JavaScript's Role in Modern Web Development</vt:lpstr>
      <vt:lpstr>JavaScript in the Job Market</vt:lpstr>
      <vt:lpstr>PowerPoint Presentation</vt:lpstr>
      <vt:lpstr>Set Up Your Environment</vt:lpstr>
      <vt:lpstr>Choosing a Text Editor</vt:lpstr>
      <vt:lpstr>Cont…</vt:lpstr>
      <vt:lpstr>What is a browser?</vt:lpstr>
      <vt:lpstr>Configuring Your Web Browser</vt:lpstr>
      <vt:lpstr>Configuring Your Web Browser</vt:lpstr>
      <vt:lpstr>Configuring Your Web Browser</vt:lpstr>
      <vt:lpstr>PowerPoint Presentation</vt:lpstr>
      <vt:lpstr>Your First JavaScript Code</vt:lpstr>
      <vt:lpstr>Writing "Hello, World!" in JavaScript</vt:lpstr>
      <vt:lpstr>Writing "Hello, World!" in JavaScript</vt:lpstr>
      <vt:lpstr>Writing "Hello, World!" in JavaScript</vt:lpstr>
      <vt:lpstr>Writing "Hello, World!" in JavaScript</vt:lpstr>
      <vt:lpstr>Writing "Hello, World!" in JavaScript</vt:lpstr>
      <vt:lpstr>Writing "Hello, World!" in JavaScript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JavaScript Programming With XML and PHP Creating Interactive Web Pages</dc:title>
  <dc:creator>AbdirahmanSuldanka</dc:creator>
  <cp:lastModifiedBy>abdirahman suldanka</cp:lastModifiedBy>
  <cp:revision>19</cp:revision>
  <dcterms:created xsi:type="dcterms:W3CDTF">2012-09-01T17:35:17Z</dcterms:created>
  <dcterms:modified xsi:type="dcterms:W3CDTF">2025-09-13T02:53:49Z</dcterms:modified>
</cp:coreProperties>
</file>