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81" r:id="rId2"/>
    <p:sldId id="343" r:id="rId3"/>
    <p:sldId id="344" r:id="rId4"/>
    <p:sldId id="345" r:id="rId5"/>
    <p:sldId id="346" r:id="rId6"/>
    <p:sldId id="260" r:id="rId7"/>
    <p:sldId id="347" r:id="rId8"/>
    <p:sldId id="304" r:id="rId9"/>
    <p:sldId id="258" r:id="rId10"/>
    <p:sldId id="350" r:id="rId11"/>
    <p:sldId id="352" r:id="rId12"/>
    <p:sldId id="349" r:id="rId13"/>
    <p:sldId id="351" r:id="rId14"/>
    <p:sldId id="353" r:id="rId15"/>
    <p:sldId id="354" r:id="rId16"/>
    <p:sldId id="311" r:id="rId17"/>
    <p:sldId id="322" r:id="rId18"/>
    <p:sldId id="363" r:id="rId19"/>
    <p:sldId id="364" r:id="rId20"/>
    <p:sldId id="365" r:id="rId21"/>
    <p:sldId id="366" r:id="rId22"/>
    <p:sldId id="367" r:id="rId23"/>
    <p:sldId id="368" r:id="rId24"/>
    <p:sldId id="369" r:id="rId25"/>
    <p:sldId id="357" r:id="rId26"/>
    <p:sldId id="355" r:id="rId27"/>
    <p:sldId id="356" r:id="rId28"/>
    <p:sldId id="358" r:id="rId29"/>
    <p:sldId id="359" r:id="rId30"/>
    <p:sldId id="360" r:id="rId31"/>
    <p:sldId id="361" r:id="rId32"/>
    <p:sldId id="362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>
      <p:cViewPr varScale="1">
        <p:scale>
          <a:sx n="64" d="100"/>
          <a:sy n="64" d="100"/>
        </p:scale>
        <p:origin x="150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D22F8-8AAC-4B6B-90DF-11F6E5C205A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05D1-5258-4DB4-B7D5-880DB47CF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3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21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21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21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2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79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7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7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9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9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5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8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2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7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3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6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75CC6-48DE-4ABD-9B30-452AA1BD9ED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7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944187"/>
            <a:ext cx="7772400" cy="1470025"/>
          </a:xfrm>
        </p:spPr>
        <p:txBody>
          <a:bodyPr>
            <a:normAutofit fontScale="90000"/>
          </a:bodyPr>
          <a:lstStyle/>
          <a:p>
            <a:b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</a:br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the Repetition Structure</a:t>
            </a:r>
            <a:b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</a:br>
            <a:endParaRPr lang="en-US" sz="4000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subTitle" idx="1"/>
          </p:nvPr>
        </p:nvSpPr>
        <p:spPr>
          <a:xfrm>
            <a:off x="1295400" y="2498100"/>
            <a:ext cx="6400800" cy="23622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Chapter 4</a:t>
            </a:r>
          </a:p>
        </p:txBody>
      </p:sp>
    </p:spTree>
    <p:extLst>
      <p:ext uri="{BB962C8B-B14F-4D97-AF65-F5344CB8AC3E}">
        <p14:creationId xmlns:p14="http://schemas.microsoft.com/office/powerpoint/2010/main" val="236959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F64056-E399-28C5-9F3B-EF0D943E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EDCB83-48D4-F931-179E-0A5ECFB6F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Repetition Structures</a:t>
            </a:r>
          </a:p>
          <a:p>
            <a:r>
              <a:rPr lang="en-US" dirty="0"/>
              <a:t>Loops in JavaScript</a:t>
            </a:r>
          </a:p>
          <a:p>
            <a:r>
              <a:rPr lang="en-US" dirty="0"/>
              <a:t>Types of Loops in JavaScript</a:t>
            </a:r>
          </a:p>
          <a:p>
            <a:r>
              <a:rPr lang="en-US" dirty="0"/>
              <a:t>Syntax of Loops</a:t>
            </a:r>
          </a:p>
          <a:p>
            <a:r>
              <a:rPr lang="en-US" dirty="0"/>
              <a:t>Special Loop Types</a:t>
            </a:r>
          </a:p>
          <a:p>
            <a:r>
              <a:rPr lang="en-US" dirty="0"/>
              <a:t>Loop Control Statements</a:t>
            </a:r>
          </a:p>
        </p:txBody>
      </p:sp>
    </p:spTree>
    <p:extLst>
      <p:ext uri="{BB962C8B-B14F-4D97-AF65-F5344CB8AC3E}">
        <p14:creationId xmlns:p14="http://schemas.microsoft.com/office/powerpoint/2010/main" val="312184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97A31-1C13-76A5-58B5-77B83F9A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Repetition Structure(LOOP)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ACE53-8AE0-1F0A-90EF-C78DBC151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0070C0"/>
                </a:solidFill>
              </a:rPr>
              <a:t>A repetition structure </a:t>
            </a:r>
            <a:r>
              <a:rPr lang="en-US" dirty="0"/>
              <a:t>is a control structure that executes a block of code repeatedly, either for a fixed number of times or until a condition is met.</a:t>
            </a:r>
          </a:p>
          <a:p>
            <a:r>
              <a:rPr lang="en-US" b="1" dirty="0">
                <a:solidFill>
                  <a:srgbClr val="0070C0"/>
                </a:solidFill>
              </a:rPr>
              <a:t>Important of repetition structure:</a:t>
            </a:r>
          </a:p>
          <a:p>
            <a:pPr lvl="1"/>
            <a:r>
              <a:rPr lang="en-US" dirty="0"/>
              <a:t>Automate repetitive tasks.</a:t>
            </a:r>
          </a:p>
          <a:p>
            <a:pPr lvl="1"/>
            <a:r>
              <a:rPr lang="en-US" dirty="0"/>
              <a:t>Reduce code duplication.</a:t>
            </a:r>
          </a:p>
          <a:p>
            <a:pPr lvl="1"/>
            <a:r>
              <a:rPr lang="en-US" dirty="0"/>
              <a:t>Make programs shorter and easier to read.</a:t>
            </a:r>
          </a:p>
          <a:p>
            <a:pPr lvl="1"/>
            <a:r>
              <a:rPr lang="en-US" dirty="0"/>
              <a:t>Enable iteration over data structures (arrays, objects, strings).</a:t>
            </a:r>
          </a:p>
        </p:txBody>
      </p:sp>
    </p:spTree>
    <p:extLst>
      <p:ext uri="{BB962C8B-B14F-4D97-AF65-F5344CB8AC3E}">
        <p14:creationId xmlns:p14="http://schemas.microsoft.com/office/powerpoint/2010/main" val="3694575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5531-760A-7C70-8B7E-ABC7AF2F0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07D59-113E-C859-82E6-E658D6049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JavaScript provides several types of loops:</a:t>
            </a:r>
          </a:p>
          <a:p>
            <a:pPr lvl="1"/>
            <a:r>
              <a:rPr lang="en-US" dirty="0"/>
              <a:t>For loop</a:t>
            </a:r>
          </a:p>
          <a:p>
            <a:pPr lvl="1"/>
            <a:r>
              <a:rPr lang="en-US" dirty="0"/>
              <a:t>While loop</a:t>
            </a:r>
          </a:p>
          <a:p>
            <a:pPr lvl="1"/>
            <a:r>
              <a:rPr lang="en-US" dirty="0"/>
              <a:t>Do…while loop</a:t>
            </a:r>
          </a:p>
          <a:p>
            <a:pPr lvl="1"/>
            <a:r>
              <a:rPr lang="en-US" dirty="0"/>
              <a:t>For…Each loop</a:t>
            </a:r>
          </a:p>
          <a:p>
            <a:pPr lvl="1"/>
            <a:r>
              <a:rPr lang="en-US" dirty="0"/>
              <a:t>For…of loop</a:t>
            </a:r>
          </a:p>
          <a:p>
            <a:pPr lvl="1"/>
            <a:r>
              <a:rPr lang="en-US" dirty="0"/>
              <a:t>For…in loop</a:t>
            </a:r>
            <a:endParaRPr lang="en-US" sz="2400" dirty="0"/>
          </a:p>
          <a:p>
            <a:r>
              <a:rPr lang="en-US" sz="2800" dirty="0"/>
              <a:t>This chapter will primarily focus on the </a:t>
            </a:r>
            <a:r>
              <a:rPr lang="en-US" sz="2800" b="1" dirty="0">
                <a:solidFill>
                  <a:srgbClr val="0070C0"/>
                </a:solidFill>
              </a:rPr>
              <a:t>for</a:t>
            </a:r>
            <a:r>
              <a:rPr lang="en-US" sz="2800" dirty="0"/>
              <a:t> loop, </a:t>
            </a:r>
            <a:r>
              <a:rPr lang="en-US" sz="2800" b="1" dirty="0">
                <a:solidFill>
                  <a:srgbClr val="0070C0"/>
                </a:solidFill>
              </a:rPr>
              <a:t>while</a:t>
            </a:r>
            <a:r>
              <a:rPr lang="en-US" sz="2800" dirty="0"/>
              <a:t> loop and </a:t>
            </a:r>
            <a:r>
              <a:rPr lang="en-US" sz="2800" b="1" dirty="0">
                <a:solidFill>
                  <a:srgbClr val="0070C0"/>
                </a:solidFill>
              </a:rPr>
              <a:t>do…while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loop.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69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EC375C-18B8-4733-ED10-BB7FEFE1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Iterations in loop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8BDF9F-79B5-21B5-BDFC-962D6D9CA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Loops repeat tasks multiple times.</a:t>
            </a:r>
          </a:p>
          <a:p>
            <a:r>
              <a:rPr lang="en-US" dirty="0"/>
              <a:t>In computer lingo, The number of times a task is repeated is called </a:t>
            </a:r>
            <a:r>
              <a:rPr lang="en-US" dirty="0">
                <a:solidFill>
                  <a:srgbClr val="0070C0"/>
                </a:solidFill>
              </a:rPr>
              <a:t>iteration</a:t>
            </a:r>
          </a:p>
          <a:p>
            <a:r>
              <a:rPr lang="en-US" dirty="0"/>
              <a:t>Loops can be: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Count-controlled</a:t>
            </a:r>
            <a:r>
              <a:rPr lang="en-US" sz="2800" b="1" dirty="0"/>
              <a:t>: </a:t>
            </a:r>
            <a:r>
              <a:rPr lang="en-US" sz="2800" dirty="0"/>
              <a:t>You know number of iterations in advance (e.g., for loop).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Condition-controlled</a:t>
            </a:r>
            <a:r>
              <a:rPr lang="en-US" sz="2800" b="1" dirty="0"/>
              <a:t>: </a:t>
            </a:r>
            <a:r>
              <a:rPr lang="en-US" sz="2800" dirty="0"/>
              <a:t>Iterations continue until a condition is met (e.g., while loop).</a:t>
            </a:r>
          </a:p>
        </p:txBody>
      </p:sp>
    </p:spTree>
    <p:extLst>
      <p:ext uri="{BB962C8B-B14F-4D97-AF65-F5344CB8AC3E}">
        <p14:creationId xmlns:p14="http://schemas.microsoft.com/office/powerpoint/2010/main" val="831395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62400" cy="4691063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4.2</a:t>
            </a:r>
          </a:p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Types of Loops</a:t>
            </a:r>
          </a:p>
        </p:txBody>
      </p:sp>
      <p:pic>
        <p:nvPicPr>
          <p:cNvPr id="7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050" y="704056"/>
            <a:ext cx="2857500" cy="4991100"/>
          </a:xfrm>
        </p:spPr>
      </p:pic>
    </p:spTree>
    <p:extLst>
      <p:ext uri="{BB962C8B-B14F-4D97-AF65-F5344CB8AC3E}">
        <p14:creationId xmlns:p14="http://schemas.microsoft.com/office/powerpoint/2010/main" val="3586701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F76E66-2A84-87EA-70BE-3FF44733D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loops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7AE406-BF8F-E981-4C2D-5F3469C28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Loops in JavaScript can be divided into:</a:t>
            </a:r>
          </a:p>
          <a:p>
            <a:r>
              <a:rPr lang="en-US" dirty="0">
                <a:solidFill>
                  <a:srgbClr val="0070C0"/>
                </a:solidFill>
              </a:rPr>
              <a:t>Pre-test Loops: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condition is checked before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executing the loop body.</a:t>
            </a:r>
          </a:p>
          <a:p>
            <a:pPr lvl="1"/>
            <a:r>
              <a:rPr lang="en-US" dirty="0"/>
              <a:t>If the condition is </a:t>
            </a:r>
            <a:r>
              <a:rPr lang="en-US" b="1" dirty="0">
                <a:solidFill>
                  <a:srgbClr val="0070C0"/>
                </a:solidFill>
              </a:rPr>
              <a:t>false initially</a:t>
            </a:r>
            <a:r>
              <a:rPr lang="en-US" dirty="0"/>
              <a:t>, the loop body </a:t>
            </a:r>
            <a:r>
              <a:rPr lang="en-US" b="1" dirty="0">
                <a:solidFill>
                  <a:srgbClr val="0070C0"/>
                </a:solidFill>
              </a:rPr>
              <a:t>never runs</a:t>
            </a:r>
            <a:r>
              <a:rPr lang="en-US" dirty="0"/>
              <a:t>.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for loop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while loop</a:t>
            </a:r>
          </a:p>
          <a:p>
            <a:pPr marL="342900" lvl="2" indent="-342900"/>
            <a:r>
              <a:rPr lang="en-US" sz="3200" dirty="0">
                <a:solidFill>
                  <a:srgbClr val="0070C0"/>
                </a:solidFill>
              </a:rPr>
              <a:t>Post-test</a:t>
            </a:r>
            <a:r>
              <a:rPr lang="en-US" sz="3200" dirty="0"/>
              <a:t> Loops</a:t>
            </a:r>
          </a:p>
          <a:p>
            <a:pPr marL="800100" lvl="3" indent="-342900"/>
            <a:r>
              <a:rPr lang="en-US" sz="2800" dirty="0"/>
              <a:t>The </a:t>
            </a:r>
            <a:r>
              <a:rPr lang="en-US" sz="2800" b="1" dirty="0">
                <a:solidFill>
                  <a:srgbClr val="0070C0"/>
                </a:solidFill>
              </a:rPr>
              <a:t>condition is checked after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executing the loop body.</a:t>
            </a:r>
          </a:p>
          <a:p>
            <a:pPr marL="800100" lvl="3" indent="-342900"/>
            <a:r>
              <a:rPr lang="en-US" sz="2800" dirty="0"/>
              <a:t>The loop body </a:t>
            </a:r>
            <a:r>
              <a:rPr lang="en-US" sz="2800" b="1" dirty="0">
                <a:solidFill>
                  <a:srgbClr val="0070C0"/>
                </a:solidFill>
              </a:rPr>
              <a:t>executes at least once</a:t>
            </a:r>
            <a:r>
              <a:rPr lang="en-US" sz="2800" dirty="0"/>
              <a:t>, even if the condition is false at the start.</a:t>
            </a:r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do...while</a:t>
            </a:r>
            <a:r>
              <a:rPr lang="en-US" sz="3800" b="1" dirty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loop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73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Pre-Test and Post-Test Loops</a:t>
            </a:r>
          </a:p>
        </p:txBody>
      </p:sp>
      <p:pic>
        <p:nvPicPr>
          <p:cNvPr id="5" name="Content Placeholder 4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37338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Content Placeholder 7"/>
          <p:cNvPicPr>
            <a:picLocks noGrp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371600"/>
            <a:ext cx="3657600" cy="480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6980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dirty="0"/>
              <a:t>Pre-Test and Post-Test Loops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 general form of a pre-test loop is as follows: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Is some condition true? If yes, enter the loop: {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	Do some tasks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Program continues</a:t>
            </a:r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The general form of a post-test loop is as follows: 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Enter the loop: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	Do some tasks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Is some condition true? If yes, go back to line 1 .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Program continues</a:t>
            </a:r>
          </a:p>
        </p:txBody>
      </p:sp>
    </p:spTree>
    <p:extLst>
      <p:ext uri="{BB962C8B-B14F-4D97-AF65-F5344CB8AC3E}">
        <p14:creationId xmlns:p14="http://schemas.microsoft.com/office/powerpoint/2010/main" val="1930363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4508-DC49-4CE9-0C07-A54791524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EBC02-9BEC-536F-15DB-15C18ED07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for loop </a:t>
            </a:r>
            <a:r>
              <a:rPr lang="en-US" dirty="0"/>
              <a:t>is pre-test loop and it is a fundamental control structure used for iterating over a specific number of times or over a sequence of items, such as an array. It consists of three parts</a:t>
            </a:r>
          </a:p>
          <a:p>
            <a:r>
              <a:rPr lang="en-US" b="1" dirty="0">
                <a:solidFill>
                  <a:srgbClr val="0070C0"/>
                </a:solidFill>
              </a:rPr>
              <a:t>Initialization</a:t>
            </a:r>
            <a:r>
              <a:rPr lang="en-US" dirty="0"/>
              <a:t>: This is where you initialize a loop control variable</a:t>
            </a:r>
          </a:p>
          <a:p>
            <a:r>
              <a:rPr lang="en-US" b="1" dirty="0">
                <a:solidFill>
                  <a:srgbClr val="0070C0"/>
                </a:solidFill>
              </a:rPr>
              <a:t>Condition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/>
              <a:t>This is the condition that determines whether the loop should continue executing or not. If the condition evaluates to true, the loop</a:t>
            </a:r>
          </a:p>
          <a:p>
            <a:r>
              <a:rPr lang="en-US" b="1" dirty="0">
                <a:solidFill>
                  <a:srgbClr val="0070C0"/>
                </a:solidFill>
              </a:rPr>
              <a:t>Increment/Decrement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/>
              <a:t>This is an operation that is performed after each iteration.</a:t>
            </a:r>
          </a:p>
          <a:p>
            <a:r>
              <a:rPr lang="en-US" dirty="0"/>
              <a:t>Here's the syntax of a for loop: </a:t>
            </a:r>
          </a:p>
          <a:p>
            <a:pPr marL="400050" lvl="2" indent="0">
              <a:lnSpc>
                <a:spcPct val="110000"/>
              </a:lnSpc>
              <a:buNone/>
            </a:pPr>
            <a:r>
              <a:rPr lang="en-US" sz="2500" dirty="0">
                <a:latin typeface="Courier New" pitchFamily="49" charset="0"/>
                <a:cs typeface="Courier New" pitchFamily="49" charset="0"/>
              </a:rPr>
              <a:t>for (initialization; condition; increment/decrement) {</a:t>
            </a:r>
          </a:p>
          <a:p>
            <a:pPr marL="400050" lvl="2" indent="0">
              <a:lnSpc>
                <a:spcPct val="110000"/>
              </a:lnSpc>
              <a:buNone/>
            </a:pPr>
            <a:r>
              <a:rPr lang="en-US" sz="2500" dirty="0">
                <a:latin typeface="Courier New" pitchFamily="49" charset="0"/>
                <a:cs typeface="Courier New" pitchFamily="49" charset="0"/>
              </a:rPr>
              <a:t>  // code to be executed in each iteration</a:t>
            </a:r>
          </a:p>
          <a:p>
            <a:pPr marL="400050" lvl="2" indent="0">
              <a:lnSpc>
                <a:spcPct val="110000"/>
              </a:lnSpc>
              <a:buNone/>
            </a:pPr>
            <a:r>
              <a:rPr lang="en-US" sz="25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6357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7CB0-FAFC-544C-6EBC-4E7948AE8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A9310-CD3A-7742-B4E7-5F2A82F1E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for (let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= 1;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&lt;= 5;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 marL="400050" lvl="1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console.log("Iteration number: " +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400050" lvl="1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let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= 1 </a:t>
            </a:r>
            <a:r>
              <a:rPr lang="en-US" dirty="0"/>
              <a:t>initializes the loop control variable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/>
              <a:t> to </a:t>
            </a:r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dirty="0"/>
              <a:t>. </a:t>
            </a: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&lt;= 5 </a:t>
            </a:r>
            <a:r>
              <a:rPr lang="en-US" dirty="0"/>
              <a:t>is the condition. The loop will continue executing as long as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/>
              <a:t> is less than or equal to </a:t>
            </a:r>
            <a:r>
              <a:rPr lang="en-US" dirty="0">
                <a:solidFill>
                  <a:srgbClr val="0070C0"/>
                </a:solidFill>
              </a:rPr>
              <a:t>5</a:t>
            </a:r>
            <a:r>
              <a:rPr lang="en-US" dirty="0"/>
              <a:t>. </a:t>
            </a: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++ </a:t>
            </a:r>
            <a:r>
              <a:rPr lang="en-US" dirty="0"/>
              <a:t>increments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/>
              <a:t> by </a:t>
            </a:r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dirty="0"/>
              <a:t> in each iteration.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509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C136A8-2935-583E-8C49-9C85556A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73B02-5352-E4C4-B9CF-C22E3BE5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while loop </a:t>
            </a:r>
            <a:r>
              <a:rPr lang="en-US" dirty="0"/>
              <a:t>is pre-test loop and it is a control structure that allows you to execute a block of code repeatedly </a:t>
            </a:r>
            <a:r>
              <a:rPr lang="en-US" b="1" dirty="0">
                <a:solidFill>
                  <a:srgbClr val="0070C0"/>
                </a:solidFill>
              </a:rPr>
              <a:t>as long as a specified condition remains true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b="1" dirty="0">
                <a:solidFill>
                  <a:srgbClr val="0070C0"/>
                </a:solidFill>
              </a:rPr>
              <a:t>Condition</a:t>
            </a:r>
            <a:r>
              <a:rPr lang="en-US" dirty="0"/>
              <a:t>: the condition is evaluated before each iteration. If the condition evaluates to true, the loop continues executing, if it evaluates to false, the loop terminates.</a:t>
            </a:r>
            <a:br>
              <a:rPr lang="en-US" dirty="0"/>
            </a:br>
            <a:r>
              <a:rPr lang="en-US" b="1" dirty="0"/>
              <a:t>Syntax: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while (condition) {</a:t>
            </a:r>
          </a:p>
          <a:p>
            <a:pPr marL="0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		// code to be executed as long as  		the condition is true</a:t>
            </a:r>
          </a:p>
          <a:p>
            <a:pPr marL="0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43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4855-E546-FBE0-3E53-436D5A6B8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35B7-8B31-6223-59A0-550B05B40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 lvl="1" indent="0" hangingPunct="0"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let 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 = 1; </a:t>
            </a:r>
            <a:r>
              <a:rPr lang="en-US" sz="2600" dirty="0"/>
              <a:t>// start from 1</a:t>
            </a:r>
          </a:p>
          <a:p>
            <a:pPr marL="400050" lvl="1" indent="0" hangingPunct="0"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 &lt;= 5) {  </a:t>
            </a:r>
            <a:r>
              <a:rPr lang="en-US" sz="2600" dirty="0"/>
              <a:t>// condition checked first</a:t>
            </a:r>
          </a:p>
          <a:p>
            <a:pPr marL="400050" lvl="1" indent="0" hangingPunct="0"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    console.log("iteration: " + 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400050" lvl="1" indent="0" hangingPunct="0"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++; </a:t>
            </a:r>
            <a:r>
              <a:rPr lang="en-US" sz="2600" dirty="0"/>
              <a:t>// increment</a:t>
            </a:r>
          </a:p>
          <a:p>
            <a:pPr marL="400050" lvl="1" indent="0" hangingPunct="0"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let </a:t>
            </a:r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>
                <a:solidFill>
                  <a:srgbClr val="0070C0"/>
                </a:solidFill>
              </a:rPr>
              <a:t> = 1 </a:t>
            </a:r>
            <a:r>
              <a:rPr lang="en-US" sz="2400" dirty="0"/>
              <a:t>initializes a loop control variable </a:t>
            </a:r>
            <a:r>
              <a:rPr lang="en-US" sz="2400" dirty="0" err="1"/>
              <a:t>i</a:t>
            </a:r>
            <a:r>
              <a:rPr lang="en-US" sz="2400" dirty="0"/>
              <a:t> to 1 before entering the loop. </a:t>
            </a:r>
          </a:p>
          <a:p>
            <a:pPr lvl="1"/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>
                <a:solidFill>
                  <a:srgbClr val="0070C0"/>
                </a:solidFill>
              </a:rPr>
              <a:t> &lt;= 5 </a:t>
            </a:r>
            <a:r>
              <a:rPr lang="en-US" sz="2400" dirty="0"/>
              <a:t>is the condition. The loop will continue executing as long as</a:t>
            </a:r>
            <a:r>
              <a:rPr lang="en-US" sz="2400" b="1" dirty="0"/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i</a:t>
            </a:r>
            <a:r>
              <a:rPr lang="en-US" sz="2400" b="1" dirty="0"/>
              <a:t> </a:t>
            </a:r>
            <a:r>
              <a:rPr lang="en-US" sz="2400" dirty="0"/>
              <a:t>is less than or equal to </a:t>
            </a:r>
            <a:r>
              <a:rPr lang="en-US" sz="2400" dirty="0">
                <a:solidFill>
                  <a:srgbClr val="0070C0"/>
                </a:solidFill>
              </a:rPr>
              <a:t>5</a:t>
            </a:r>
            <a:r>
              <a:rPr lang="en-US" sz="2400" dirty="0"/>
              <a:t>. </a:t>
            </a:r>
          </a:p>
          <a:p>
            <a:pPr lvl="1"/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>
                <a:solidFill>
                  <a:srgbClr val="0070C0"/>
                </a:solidFill>
              </a:rPr>
              <a:t>++ </a:t>
            </a:r>
            <a:r>
              <a:rPr lang="en-US" sz="2400" dirty="0"/>
              <a:t>increments </a:t>
            </a:r>
            <a:r>
              <a:rPr lang="en-US" sz="2400" b="1" dirty="0" err="1">
                <a:solidFill>
                  <a:srgbClr val="0070C0"/>
                </a:solidFill>
              </a:rPr>
              <a:t>i</a:t>
            </a:r>
            <a:r>
              <a:rPr lang="en-US" sz="2400" dirty="0"/>
              <a:t> by </a:t>
            </a:r>
            <a:r>
              <a:rPr lang="en-US" sz="2400" dirty="0">
                <a:solidFill>
                  <a:srgbClr val="0070C0"/>
                </a:solidFill>
              </a:rPr>
              <a:t>1</a:t>
            </a:r>
            <a:r>
              <a:rPr lang="en-US" sz="2400" dirty="0"/>
              <a:t> after each iteration.</a:t>
            </a:r>
          </a:p>
          <a:p>
            <a:pPr lvl="1" indent="-342900" hangingPunct="0"/>
            <a:endParaRPr lang="en-US" sz="2200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325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70976-D59F-F548-7EB6-4CD1E60F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Do…While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A50EE-EE35-E1B8-149E-8192E346D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do...while loop </a:t>
            </a:r>
            <a:r>
              <a:rPr lang="en-US" dirty="0"/>
              <a:t>is a post-test loop and it is another control structure used to execute a block of code repeatedly. It's similar to the while loop, but it guarantees that the code block </a:t>
            </a:r>
            <a:r>
              <a:rPr lang="en-US" b="1" dirty="0">
                <a:solidFill>
                  <a:srgbClr val="0070C0"/>
                </a:solidFill>
              </a:rPr>
              <a:t>will execute at least once before</a:t>
            </a:r>
            <a:r>
              <a:rPr lang="en-US" dirty="0"/>
              <a:t> checking the loop condition.</a:t>
            </a:r>
          </a:p>
          <a:p>
            <a:pPr algn="just"/>
            <a:r>
              <a:rPr lang="en-US" dirty="0"/>
              <a:t>The code block within the do portion is executed first.</a:t>
            </a:r>
          </a:p>
          <a:p>
            <a:pPr algn="just"/>
            <a:r>
              <a:rPr lang="en-US" dirty="0"/>
              <a:t>Then, the loop checks the condition. If the condition is true, the loop continues; if it's false, the loop terminates.</a:t>
            </a:r>
          </a:p>
          <a:p>
            <a:pPr algn="just"/>
            <a:r>
              <a:rPr lang="en-US" b="1" dirty="0"/>
              <a:t>Syntax:</a:t>
            </a:r>
            <a:endParaRPr lang="en-US" dirty="0"/>
          </a:p>
          <a:p>
            <a:pPr marL="857250" lvl="2" indent="0"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do {</a:t>
            </a:r>
          </a:p>
          <a:p>
            <a:pPr marL="857250" lvl="2" indent="0"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 // code to be executed</a:t>
            </a:r>
          </a:p>
          <a:p>
            <a:pPr marL="857250" lvl="2" indent="0"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} while (condition);</a:t>
            </a:r>
          </a:p>
          <a:p>
            <a:pPr algn="just"/>
            <a:endParaRPr lang="en-US" b="1" dirty="0"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076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CD93-1566-D5F8-3D4F-0CE9CED72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Do…While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B5D8D-208E-52D0-C64B-10383A292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00050" lvl="1" indent="0">
              <a:buNone/>
            </a:pPr>
            <a:r>
              <a:rPr lang="en-US" sz="2600" dirty="0">
                <a:latin typeface="Courier New" pitchFamily="49" charset="0"/>
                <a:cs typeface="Courier New" pitchFamily="49" charset="0"/>
              </a:rPr>
              <a:t>let </a:t>
            </a:r>
            <a:r>
              <a:rPr lang="en-US" sz="2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 = 1;  // start from 1</a:t>
            </a:r>
          </a:p>
          <a:p>
            <a:pPr marL="400050" lvl="1" indent="0">
              <a:buNone/>
            </a:pPr>
            <a:r>
              <a:rPr lang="en-US" sz="2600" dirty="0">
                <a:latin typeface="Courier New" pitchFamily="49" charset="0"/>
                <a:cs typeface="Courier New" pitchFamily="49" charset="0"/>
              </a:rPr>
              <a:t>do {</a:t>
            </a:r>
          </a:p>
          <a:p>
            <a:pPr marL="400050" lvl="1" indent="0">
              <a:buNone/>
            </a:pPr>
            <a:r>
              <a:rPr lang="en-US" sz="2600" dirty="0">
                <a:latin typeface="Courier New" pitchFamily="49" charset="0"/>
                <a:cs typeface="Courier New" pitchFamily="49" charset="0"/>
              </a:rPr>
              <a:t>    console.log("Iteration number: " + </a:t>
            </a:r>
            <a:r>
              <a:rPr lang="en-US" sz="2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400050" lvl="1" indent="0">
              <a:buNone/>
            </a:pPr>
            <a:r>
              <a:rPr lang="en-US" sz="2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++;     // increase by 1</a:t>
            </a:r>
          </a:p>
          <a:p>
            <a:pPr marL="400050" lvl="1" indent="0">
              <a:buNone/>
            </a:pPr>
            <a:r>
              <a:rPr lang="en-US" sz="2600" dirty="0">
                <a:latin typeface="Courier New" pitchFamily="49" charset="0"/>
                <a:cs typeface="Courier New" pitchFamily="49" charset="0"/>
              </a:rPr>
              <a:t>} while (</a:t>
            </a:r>
            <a:r>
              <a:rPr lang="en-US" sz="2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 &lt;= 5); //check the condition</a:t>
            </a:r>
          </a:p>
          <a:p>
            <a:r>
              <a:rPr lang="en-US" dirty="0"/>
              <a:t>The code block within the do section is executed first, which logs the value of </a:t>
            </a:r>
            <a:r>
              <a:rPr lang="en-US" dirty="0" err="1"/>
              <a:t>i</a:t>
            </a:r>
            <a:r>
              <a:rPr lang="en-US" dirty="0"/>
              <a:t>. </a:t>
            </a:r>
          </a:p>
          <a:p>
            <a:r>
              <a:rPr lang="en-US" dirty="0"/>
              <a:t>Then, it increments </a:t>
            </a:r>
            <a:r>
              <a:rPr lang="en-US" b="1" dirty="0" err="1">
                <a:solidFill>
                  <a:srgbClr val="0070C0"/>
                </a:solidFill>
              </a:rPr>
              <a:t>i</a:t>
            </a:r>
            <a:r>
              <a:rPr lang="en-US" dirty="0"/>
              <a:t> by </a:t>
            </a:r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dirty="0"/>
              <a:t> using </a:t>
            </a:r>
            <a:r>
              <a:rPr lang="en-US" b="1" dirty="0" err="1">
                <a:solidFill>
                  <a:srgbClr val="0070C0"/>
                </a:solidFill>
              </a:rPr>
              <a:t>i</a:t>
            </a:r>
            <a:r>
              <a:rPr lang="en-US" b="1" dirty="0">
                <a:solidFill>
                  <a:srgbClr val="0070C0"/>
                </a:solidFill>
              </a:rPr>
              <a:t>++. </a:t>
            </a:r>
          </a:p>
          <a:p>
            <a:r>
              <a:rPr lang="en-US" dirty="0"/>
              <a:t>After each iteration, loop checks the condition </a:t>
            </a:r>
            <a:r>
              <a:rPr lang="en-US" b="1" dirty="0" err="1">
                <a:solidFill>
                  <a:srgbClr val="0070C0"/>
                </a:solidFill>
              </a:rPr>
              <a:t>i</a:t>
            </a:r>
            <a:r>
              <a:rPr lang="en-US" b="1" dirty="0">
                <a:solidFill>
                  <a:srgbClr val="0070C0"/>
                </a:solidFill>
              </a:rPr>
              <a:t> &lt;= 5</a:t>
            </a:r>
            <a:r>
              <a:rPr lang="en-US" b="1" dirty="0"/>
              <a:t>. </a:t>
            </a:r>
            <a:r>
              <a:rPr lang="en-US" dirty="0"/>
              <a:t>If this condition is </a:t>
            </a:r>
            <a:r>
              <a:rPr lang="en-US" b="1" dirty="0">
                <a:solidFill>
                  <a:srgbClr val="0070C0"/>
                </a:solidFill>
              </a:rPr>
              <a:t>true</a:t>
            </a:r>
            <a:r>
              <a:rPr lang="en-US" dirty="0"/>
              <a:t>, the loop continues to the next iteration; if it's </a:t>
            </a:r>
            <a:r>
              <a:rPr lang="en-US" b="1" dirty="0">
                <a:solidFill>
                  <a:srgbClr val="0070C0"/>
                </a:solidFill>
              </a:rPr>
              <a:t>false</a:t>
            </a:r>
            <a:r>
              <a:rPr lang="en-US" dirty="0"/>
              <a:t>, the loop terminates.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298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Beware the Infinite Loop!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An </a:t>
            </a:r>
            <a:r>
              <a:rPr lang="en-US" sz="2400" b="1" dirty="0">
                <a:solidFill>
                  <a:srgbClr val="0070C0"/>
                </a:solidFill>
              </a:rPr>
              <a:t>infinite loop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is a loop that never ends because its </a:t>
            </a:r>
            <a:r>
              <a:rPr lang="en-US" sz="2400" b="1" dirty="0">
                <a:solidFill>
                  <a:srgbClr val="0070C0"/>
                </a:solidFill>
              </a:rPr>
              <a:t>stopping condition is never met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or because there is </a:t>
            </a:r>
            <a:r>
              <a:rPr lang="en-US" sz="2400" b="1" dirty="0">
                <a:solidFill>
                  <a:srgbClr val="0070C0"/>
                </a:solidFill>
              </a:rPr>
              <a:t>no condition at all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to stop it.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let num1, num2;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do {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num1 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parseInt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(prompt("Enter a number: "));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num2 = num1 + 1;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console.log("Hello!");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 while (num1 &lt;= num2);  // repeat until num1 &gt; num2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console.log("The End");</a:t>
            </a:r>
          </a:p>
          <a:p>
            <a:pPr marL="0" indent="0">
              <a:buNone/>
            </a:pPr>
            <a:r>
              <a:rPr lang="en-US" sz="2000" dirty="0"/>
              <a:t>The test condition is impossible to achieve.</a:t>
            </a:r>
          </a:p>
          <a:p>
            <a:pPr marL="0" indent="0">
              <a:buNone/>
            </a:pPr>
            <a:r>
              <a:rPr lang="en-US" sz="2000" dirty="0"/>
              <a:t>The loop will run forever.</a:t>
            </a:r>
          </a:p>
        </p:txBody>
      </p:sp>
    </p:spTree>
    <p:extLst>
      <p:ext uri="{BB962C8B-B14F-4D97-AF65-F5344CB8AC3E}">
        <p14:creationId xmlns:p14="http://schemas.microsoft.com/office/powerpoint/2010/main" val="1861227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Sentinel Loop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r>
              <a:rPr lang="en-US" sz="2000" dirty="0"/>
              <a:t>A </a:t>
            </a:r>
            <a:r>
              <a:rPr lang="en-US" sz="2000" b="1" dirty="0">
                <a:solidFill>
                  <a:srgbClr val="0070C0"/>
                </a:solidFill>
              </a:rPr>
              <a:t>sentinel loop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is a loop that continues to run until it encounters </a:t>
            </a:r>
            <a:r>
              <a:rPr lang="en-US" sz="2000" dirty="0">
                <a:solidFill>
                  <a:srgbClr val="0070C0"/>
                </a:solidFill>
              </a:rPr>
              <a:t>a </a:t>
            </a:r>
            <a:r>
              <a:rPr lang="en-US" sz="2000" b="1" dirty="0">
                <a:solidFill>
                  <a:srgbClr val="0070C0"/>
                </a:solidFill>
              </a:rPr>
              <a:t>special value (called a sentinel value)</a:t>
            </a:r>
            <a:r>
              <a:rPr lang="en-US" sz="2000" dirty="0"/>
              <a:t> that signals the loop to stop.</a:t>
            </a:r>
          </a:p>
          <a:p>
            <a:r>
              <a:rPr lang="en-US" sz="2000" dirty="0"/>
              <a:t>The sentinel value is </a:t>
            </a:r>
            <a:r>
              <a:rPr lang="en-US" sz="2000" b="1" dirty="0">
                <a:solidFill>
                  <a:srgbClr val="0070C0"/>
                </a:solidFill>
              </a:rPr>
              <a:t>not a valid data value</a:t>
            </a:r>
            <a:r>
              <a:rPr lang="en-US" sz="2000" dirty="0"/>
              <a:t>, but a special marker to end input.</a:t>
            </a:r>
          </a:p>
          <a:p>
            <a:r>
              <a:rPr lang="en-US" sz="2000" dirty="0"/>
              <a:t>It is often used when the number of inputs is </a:t>
            </a:r>
            <a:r>
              <a:rPr lang="en-US" sz="2000" b="1" dirty="0">
                <a:solidFill>
                  <a:srgbClr val="0070C0"/>
                </a:solidFill>
              </a:rPr>
              <a:t>unknown in advance</a:t>
            </a:r>
            <a:r>
              <a:rPr lang="en-US" sz="2000" dirty="0"/>
              <a:t>.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400050" lvl="1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let num =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parseInt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(prompt("Enter a number (-1 to stop):"));</a:t>
            </a:r>
          </a:p>
          <a:p>
            <a:pPr marL="400050" lvl="1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while (num !== -1) {</a:t>
            </a:r>
          </a:p>
          <a:p>
            <a:pPr marL="400050" lvl="1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console.log("You entered: " + num);</a:t>
            </a:r>
          </a:p>
          <a:p>
            <a:pPr marL="400050" lvl="1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num =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parseInt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(prompt("Enter a number (-1 to stop):"));</a:t>
            </a:r>
          </a:p>
          <a:p>
            <a:pPr marL="400050" lvl="1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00050" lvl="1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console.log("Loop ended.");</a:t>
            </a:r>
          </a:p>
          <a:p>
            <a:pPr marL="0" indent="0"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910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7791-D586-B1B6-FD56-22B803B55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And 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70236-C865-D7C0-0E42-6FE1E23F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Both </a:t>
            </a:r>
            <a:r>
              <a:rPr lang="en-US" b="1" dirty="0">
                <a:solidFill>
                  <a:srgbClr val="0070C0"/>
                </a:solidFill>
              </a:rPr>
              <a:t>break</a:t>
            </a:r>
            <a:r>
              <a:rPr lang="en-US" dirty="0"/>
              <a:t> and </a:t>
            </a:r>
            <a:r>
              <a:rPr lang="en-US" b="1" dirty="0">
                <a:solidFill>
                  <a:srgbClr val="0070C0"/>
                </a:solidFill>
              </a:rPr>
              <a:t>continue</a:t>
            </a:r>
            <a:r>
              <a:rPr lang="en-US" dirty="0"/>
              <a:t> can be used with </a:t>
            </a:r>
            <a:r>
              <a:rPr lang="en-US" b="1" dirty="0">
                <a:solidFill>
                  <a:srgbClr val="0070C0"/>
                </a:solidFill>
              </a:rPr>
              <a:t>for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b="1" dirty="0">
                <a:solidFill>
                  <a:srgbClr val="0070C0"/>
                </a:solidFill>
              </a:rPr>
              <a:t>while</a:t>
            </a:r>
            <a:r>
              <a:rPr lang="en-US" dirty="0"/>
              <a:t>, and </a:t>
            </a:r>
            <a:r>
              <a:rPr lang="en-US" b="1" dirty="0">
                <a:solidFill>
                  <a:srgbClr val="0070C0"/>
                </a:solidFill>
              </a:rPr>
              <a:t>do-while</a:t>
            </a:r>
            <a:r>
              <a:rPr lang="en-US" dirty="0"/>
              <a:t> loops, providing you with flexibility in controlling the flow of your loops. They are particularly useful for handling specific cases where you need to exit a loop early or skip certain iterations based on conditions.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255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63C6A-8F72-5853-79F4-A04B00D92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4C50-8C6E-3C49-F9FD-45003390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break</a:t>
            </a:r>
            <a:r>
              <a:rPr lang="en-US" dirty="0"/>
              <a:t> statement is used to exit or terminate a loop prematurely. </a:t>
            </a:r>
          </a:p>
          <a:p>
            <a:r>
              <a:rPr lang="en-US" dirty="0"/>
              <a:t>When break is encountered inside a loop, it immediately stops the loop's execution, and the program continues with the next statement after the loop. </a:t>
            </a:r>
          </a:p>
          <a:p>
            <a:r>
              <a:rPr lang="en-US" dirty="0"/>
              <a:t>It's typically used to exit a loop when a certain condition is met.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305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3071-5D43-4EA6-F2E8-364A25A3B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Example</a:t>
            </a:r>
          </a:p>
        </p:txBody>
      </p:sp>
      <p:pic>
        <p:nvPicPr>
          <p:cNvPr id="4" name="Content Placeholder 3" descr="break.png">
            <a:extLst>
              <a:ext uri="{FF2B5EF4-FFF2-40B4-BE49-F238E27FC236}">
                <a16:creationId xmlns:a16="http://schemas.microsoft.com/office/drawing/2014/main" id="{ABAD8709-2FF9-B203-6641-F28ECEA69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915" t="10095" r="5656" b="11328"/>
          <a:stretch>
            <a:fillRect/>
          </a:stretch>
        </p:blipFill>
        <p:spPr>
          <a:xfrm>
            <a:off x="457200" y="1905000"/>
            <a:ext cx="8229600" cy="380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70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C69CE96-25F1-8069-1A45-DB77408B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7" name="Content Placeholder 6" descr="breaksnap.PNG">
            <a:extLst>
              <a:ext uri="{FF2B5EF4-FFF2-40B4-BE49-F238E27FC236}">
                <a16:creationId xmlns:a16="http://schemas.microsoft.com/office/drawing/2014/main" id="{F3F4678C-5D36-D06F-ACA0-F1EC38DE99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689" y="1676400"/>
            <a:ext cx="8229600" cy="25730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072ED3-3A39-9996-2EC3-21C9C7432303}"/>
              </a:ext>
            </a:extLst>
          </p:cNvPr>
          <p:cNvSpPr txBox="1"/>
          <p:nvPr/>
        </p:nvSpPr>
        <p:spPr>
          <a:xfrm>
            <a:off x="437214" y="4581435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>
                <a:solidFill>
                  <a:srgbClr val="0070C0"/>
                </a:solidFill>
              </a:rPr>
              <a:t>break</a:t>
            </a:r>
            <a:r>
              <a:rPr lang="en-US" sz="2800" dirty="0"/>
              <a:t> statement is triggered when </a:t>
            </a:r>
            <a:r>
              <a:rPr lang="en-US" sz="2800" b="1" dirty="0" err="1">
                <a:solidFill>
                  <a:schemeClr val="accent1"/>
                </a:solidFill>
              </a:rPr>
              <a:t>i</a:t>
            </a:r>
            <a:r>
              <a:rPr lang="en-US" sz="2800" dirty="0"/>
              <a:t> becomes  3. As a result, the loop terminates, and the program continues with the next statement outside the loop.</a:t>
            </a:r>
          </a:p>
        </p:txBody>
      </p:sp>
    </p:spTree>
    <p:extLst>
      <p:ext uri="{BB962C8B-B14F-4D97-AF65-F5344CB8AC3E}">
        <p14:creationId xmlns:p14="http://schemas.microsoft.com/office/powerpoint/2010/main" val="3049242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B2892-F37B-5FE9-81B7-0C01A36C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3FA2D-4166-8F33-FB3C-999AAA866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continue</a:t>
            </a:r>
            <a:r>
              <a:rPr lang="en-US" dirty="0"/>
              <a:t> statement is used to skip the current iteration of a loop and proceed to the next iteration. </a:t>
            </a:r>
          </a:p>
          <a:p>
            <a:r>
              <a:rPr lang="en-US" dirty="0"/>
              <a:t>It's typically used when you want to skip certain iterations based on a condition but continue with the rest of the loop iterations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669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70A9-4371-B14A-8205-BC198C0F3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 Example</a:t>
            </a:r>
          </a:p>
        </p:txBody>
      </p:sp>
      <p:pic>
        <p:nvPicPr>
          <p:cNvPr id="4" name="Content Placeholder 3" descr="continue.png">
            <a:extLst>
              <a:ext uri="{FF2B5EF4-FFF2-40B4-BE49-F238E27FC236}">
                <a16:creationId xmlns:a16="http://schemas.microsoft.com/office/drawing/2014/main" id="{8770E483-833E-3FB7-7312-6C5809047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979" t="11328" r="5615" b="11944"/>
          <a:stretch>
            <a:fillRect/>
          </a:stretch>
        </p:blipFill>
        <p:spPr>
          <a:xfrm>
            <a:off x="465944" y="1417638"/>
            <a:ext cx="8229600" cy="429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48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8EDD-F5F0-3987-25BA-178C678BA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4787A1-20FB-7162-4321-3E29E945E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52600"/>
            <a:ext cx="8229600" cy="25629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D86FAD-7892-1DBE-0667-931D7FE4480C}"/>
              </a:ext>
            </a:extLst>
          </p:cNvPr>
          <p:cNvSpPr txBox="1"/>
          <p:nvPr/>
        </p:nvSpPr>
        <p:spPr>
          <a:xfrm>
            <a:off x="457200" y="4651783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2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</a:t>
            </a:r>
            <a:r>
              <a:rPr lang="en-US" sz="2400" b="1" kern="12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continue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statement is triggered when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is equal to 2. It skips the code block within the loop for that iteration but continues with the loop to process the remaining values of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.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45826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C9095A-4A7A-DD68-5378-C363648A6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Nasted</a:t>
            </a:r>
            <a:r>
              <a:rPr lang="en-US" dirty="0"/>
              <a:t> loop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258428-0D71-7CBF-5BE1-B3A9F17DF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Nested loops </a:t>
            </a:r>
            <a:r>
              <a:rPr lang="en-US" dirty="0"/>
              <a:t>are loops that are placed inside another loop. They are used when you need to perform repetitive operations on multiple levels or when dealing with multi-dimensional data structures, such as arrays of arrays. Nested loops allow you to iterate through the elements of a two-dimensional or multi-dimensional array, generate combinations, or handle more complex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312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367B77-598D-49AC-5343-B2DDC3FDF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Nasted</a:t>
            </a:r>
            <a:r>
              <a:rPr lang="en-US" dirty="0"/>
              <a:t> Loop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A3B81-C8DE-B7C0-0AC1-1CD252DA8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nested loop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means </a:t>
            </a:r>
            <a:r>
              <a:rPr lang="en-US" b="1" dirty="0">
                <a:solidFill>
                  <a:srgbClr val="0070C0"/>
                </a:solidFill>
              </a:rPr>
              <a:t>one loop inside another loop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outer loop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runs first.</a:t>
            </a:r>
          </a:p>
          <a:p>
            <a:pPr lvl="1"/>
            <a:r>
              <a:rPr lang="en-US" dirty="0"/>
              <a:t>For </a:t>
            </a:r>
            <a:r>
              <a:rPr lang="en-US" b="1" dirty="0">
                <a:solidFill>
                  <a:srgbClr val="0070C0"/>
                </a:solidFill>
              </a:rPr>
              <a:t>each time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the outer loop runs, the </a:t>
            </a:r>
            <a:r>
              <a:rPr lang="en-US" b="1" dirty="0">
                <a:solidFill>
                  <a:srgbClr val="0070C0"/>
                </a:solidFill>
              </a:rPr>
              <a:t>inner loop runs full</a:t>
            </a:r>
          </a:p>
          <a:p>
            <a:r>
              <a:rPr lang="en-US" dirty="0"/>
              <a:t>Using For </a:t>
            </a:r>
          </a:p>
          <a:p>
            <a:pPr marL="400050" lvl="1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for (let outer = 0; outer &lt; ...; outer++) {</a:t>
            </a:r>
          </a:p>
          <a:p>
            <a:pPr marL="400050" lvl="1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    for (let inner = 0; inner &lt; ...; inner++) {</a:t>
            </a:r>
          </a:p>
          <a:p>
            <a:pPr marL="400050" lvl="1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        // statements</a:t>
            </a:r>
          </a:p>
          <a:p>
            <a:pPr marL="400050" lvl="1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400050" lvl="1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200" dirty="0"/>
              <a:t>Using While</a:t>
            </a:r>
          </a:p>
          <a:p>
            <a:pPr marL="400050" lvl="1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1900" dirty="0" err="1">
                <a:latin typeface="Courier New" pitchFamily="49" charset="0"/>
                <a:cs typeface="Courier New" pitchFamily="49" charset="0"/>
              </a:rPr>
              <a:t>outer_condition</a:t>
            </a:r>
            <a:r>
              <a:rPr lang="en-US" sz="1900" dirty="0">
                <a:latin typeface="Courier New" pitchFamily="49" charset="0"/>
                <a:cs typeface="Courier New" pitchFamily="49" charset="0"/>
              </a:rPr>
              <a:t>):</a:t>
            </a:r>
          </a:p>
          <a:p>
            <a:pPr marL="400050" lvl="1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    while (</a:t>
            </a:r>
            <a:r>
              <a:rPr lang="en-US" sz="1900" dirty="0" err="1">
                <a:latin typeface="Courier New" pitchFamily="49" charset="0"/>
                <a:cs typeface="Courier New" pitchFamily="49" charset="0"/>
              </a:rPr>
              <a:t>inner_condition</a:t>
            </a:r>
            <a:r>
              <a:rPr lang="en-US" sz="1900" dirty="0">
                <a:latin typeface="Courier New" pitchFamily="49" charset="0"/>
                <a:cs typeface="Courier New" pitchFamily="49" charset="0"/>
              </a:rPr>
              <a:t>):</a:t>
            </a:r>
          </a:p>
          <a:p>
            <a:pPr marL="400050" lvl="1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        statements</a:t>
            </a:r>
          </a:p>
          <a:p>
            <a:pPr marL="400050" lvl="1" indent="0">
              <a:buNone/>
            </a:pPr>
            <a:endParaRPr lang="en-US" sz="1900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992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D14A-F7FD-028E-BDD3-13976976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r>
              <a:rPr lang="en-US" dirty="0" err="1"/>
              <a:t>Nasted</a:t>
            </a:r>
            <a:r>
              <a:rPr lang="en-US" dirty="0"/>
              <a:t> Loop</a:t>
            </a:r>
          </a:p>
        </p:txBody>
      </p:sp>
      <p:pic>
        <p:nvPicPr>
          <p:cNvPr id="4" name="Picture 3" descr="nestedloops1.png">
            <a:extLst>
              <a:ext uri="{FF2B5EF4-FFF2-40B4-BE49-F238E27FC236}">
                <a16:creationId xmlns:a16="http://schemas.microsoft.com/office/drawing/2014/main" id="{EDD2DACD-E1EE-52D4-1ABB-426A451150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75" t="11153" r="8221" b="11722"/>
          <a:stretch>
            <a:fillRect/>
          </a:stretch>
        </p:blipFill>
        <p:spPr>
          <a:xfrm>
            <a:off x="199417" y="1204851"/>
            <a:ext cx="8745166" cy="539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33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8EF73-EDAA-08A1-7B39-8E8EC370F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Nested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1AE7-22D0-D93C-0ABB-FB511F70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this example:</a:t>
            </a:r>
          </a:p>
          <a:p>
            <a:pPr>
              <a:lnSpc>
                <a:spcPct val="150000"/>
              </a:lnSpc>
            </a:pPr>
            <a:r>
              <a:rPr lang="en-US" dirty="0"/>
              <a:t>There are two for loops: an outer loop and an inner loop.</a:t>
            </a:r>
          </a:p>
          <a:p>
            <a:pPr>
              <a:lnSpc>
                <a:spcPct val="150000"/>
              </a:lnSpc>
            </a:pPr>
            <a:r>
              <a:rPr lang="en-US" dirty="0"/>
              <a:t>The outer loop (</a:t>
            </a:r>
            <a:r>
              <a:rPr lang="en-US" b="1" dirty="0">
                <a:solidFill>
                  <a:srgbClr val="0070C0"/>
                </a:solidFill>
              </a:rPr>
              <a:t>controlled by </a:t>
            </a:r>
            <a:r>
              <a:rPr lang="en-US" b="1" dirty="0" err="1">
                <a:solidFill>
                  <a:srgbClr val="0070C0"/>
                </a:solidFill>
              </a:rPr>
              <a:t>i</a:t>
            </a:r>
            <a:r>
              <a:rPr lang="en-US" dirty="0"/>
              <a:t>) iterates from 0 to 2.</a:t>
            </a:r>
          </a:p>
          <a:p>
            <a:pPr>
              <a:lnSpc>
                <a:spcPct val="150000"/>
              </a:lnSpc>
            </a:pPr>
            <a:r>
              <a:rPr lang="en-US" dirty="0"/>
              <a:t>The inner loop (</a:t>
            </a:r>
            <a:r>
              <a:rPr lang="en-US" b="1" dirty="0">
                <a:solidFill>
                  <a:srgbClr val="0070C0"/>
                </a:solidFill>
              </a:rPr>
              <a:t>controlled by j</a:t>
            </a:r>
            <a:r>
              <a:rPr lang="en-US" dirty="0"/>
              <a:t>) iterates from 0 to 2 for each iteration of the outer loop.</a:t>
            </a:r>
          </a:p>
          <a:p>
            <a:pPr>
              <a:lnSpc>
                <a:spcPct val="150000"/>
              </a:lnSpc>
            </a:pPr>
            <a:r>
              <a:rPr lang="en-US" dirty="0"/>
              <a:t>The console.log statement prints the combination of </a:t>
            </a:r>
            <a:r>
              <a:rPr lang="en-US" b="1" dirty="0" err="1"/>
              <a:t>i</a:t>
            </a:r>
            <a:r>
              <a:rPr lang="en-US" dirty="0"/>
              <a:t> and </a:t>
            </a:r>
            <a:r>
              <a:rPr lang="en-US" b="1" dirty="0"/>
              <a:t>j</a:t>
            </a:r>
            <a:r>
              <a:rPr lang="en-US" dirty="0"/>
              <a:t> for each pair of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547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8705-312D-D44C-A00A-E1B040C8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</a:p>
        </p:txBody>
      </p:sp>
      <p:pic>
        <p:nvPicPr>
          <p:cNvPr id="4" name="Content Placeholder 3" descr="nestedloopsoutput.PNG">
            <a:extLst>
              <a:ext uri="{FF2B5EF4-FFF2-40B4-BE49-F238E27FC236}">
                <a16:creationId xmlns:a16="http://schemas.microsoft.com/office/drawing/2014/main" id="{2D4F558E-0B6A-B43C-9481-1AD474D243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2875"/>
            <a:ext cx="8229600" cy="442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72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255B6-EDAC-5489-5B83-24343699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Multiplication table using nested loops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903DEA-7937-FB8E-8BEA-FE4AEA027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a multiplication table using nested loops in JavaScript is a common exercise.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84438C-F40F-3BB2-DFDC-9338B3E37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55198"/>
            <a:ext cx="6419850" cy="353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27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8C7E-847A-60BE-B6FC-E05288B2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Multiplication table using 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B70FC-E957-A929-603B-2DF15040C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define the size variable to determine the size of the multiplication table (e.g., 10x10).</a:t>
            </a:r>
          </a:p>
          <a:p>
            <a:r>
              <a:rPr lang="en-US" dirty="0"/>
              <a:t>The outer loop </a:t>
            </a:r>
            <a:r>
              <a:rPr lang="en-US" dirty="0">
                <a:solidFill>
                  <a:srgbClr val="0070C0"/>
                </a:solidFill>
              </a:rPr>
              <a:t>(controlled by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dirty="0"/>
              <a:t>iterates from 1 to size to represent the rows.</a:t>
            </a:r>
          </a:p>
          <a:p>
            <a:r>
              <a:rPr lang="en-US" dirty="0"/>
              <a:t>The inner loop </a:t>
            </a:r>
            <a:r>
              <a:rPr lang="en-US" dirty="0">
                <a:solidFill>
                  <a:srgbClr val="0070C0"/>
                </a:solidFill>
              </a:rPr>
              <a:t>(controlled by j) </a:t>
            </a:r>
            <a:r>
              <a:rPr lang="en-US" dirty="0"/>
              <a:t>iterates from 1 to size to represent the columns.</a:t>
            </a:r>
          </a:p>
          <a:p>
            <a:r>
              <a:rPr lang="en-US" dirty="0"/>
              <a:t>Inside the inner loop, we calculate the product of </a:t>
            </a:r>
            <a:r>
              <a:rPr lang="en-US" dirty="0" err="1"/>
              <a:t>i</a:t>
            </a:r>
            <a:r>
              <a:rPr lang="en-US" dirty="0"/>
              <a:t> and j and display it along with the multiplication factors.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6225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8D57C4-838B-3F24-DF7A-14551AF1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7962"/>
            <a:ext cx="7772400" cy="1362075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rgbClr val="0070C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078150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1876</TotalTime>
  <Words>1738</Words>
  <Application>Microsoft Office PowerPoint</Application>
  <PresentationFormat>On-screen Show (4:3)</PresentationFormat>
  <Paragraphs>184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 Rounded MT Bold</vt:lpstr>
      <vt:lpstr>Calibri</vt:lpstr>
      <vt:lpstr>Courier New</vt:lpstr>
      <vt:lpstr>Times New Roman</vt:lpstr>
      <vt:lpstr>Office Theme</vt:lpstr>
      <vt:lpstr> the Repetition Structure </vt:lpstr>
      <vt:lpstr>Objectives</vt:lpstr>
      <vt:lpstr>Repetition Structure(LOOP)</vt:lpstr>
      <vt:lpstr>Loops in JavaScript</vt:lpstr>
      <vt:lpstr>Iterations in loop</vt:lpstr>
      <vt:lpstr>PowerPoint Presentation</vt:lpstr>
      <vt:lpstr>Types of loops</vt:lpstr>
      <vt:lpstr>Pre-Test and Post-Test Loops</vt:lpstr>
      <vt:lpstr>Pre-Test and Post-Test Loops</vt:lpstr>
      <vt:lpstr>For loop</vt:lpstr>
      <vt:lpstr>For loop</vt:lpstr>
      <vt:lpstr>While loop</vt:lpstr>
      <vt:lpstr>While loop</vt:lpstr>
      <vt:lpstr>Do…While Loop</vt:lpstr>
      <vt:lpstr>Do…While loop</vt:lpstr>
      <vt:lpstr>Beware the Infinite Loop!</vt:lpstr>
      <vt:lpstr>Sentinel Loop</vt:lpstr>
      <vt:lpstr>Break And Continue</vt:lpstr>
      <vt:lpstr>Break Statement</vt:lpstr>
      <vt:lpstr>Break Example</vt:lpstr>
      <vt:lpstr>Output</vt:lpstr>
      <vt:lpstr>Continue Statement</vt:lpstr>
      <vt:lpstr>Continue Example</vt:lpstr>
      <vt:lpstr>Output</vt:lpstr>
      <vt:lpstr>Nasted loop</vt:lpstr>
      <vt:lpstr>Nasted Loop</vt:lpstr>
      <vt:lpstr>Example of Nasted Loop</vt:lpstr>
      <vt:lpstr>Example Of Nested loop</vt:lpstr>
      <vt:lpstr>Output </vt:lpstr>
      <vt:lpstr>Multiplication table using nested loops</vt:lpstr>
      <vt:lpstr>Multiplication table using nested loops</vt:lpstr>
      <vt:lpstr>END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 Programming With XML and PHP Creating Interactive Web Pages</dc:title>
  <dc:creator>Duck</dc:creator>
  <cp:lastModifiedBy>abdirahman suldanka</cp:lastModifiedBy>
  <cp:revision>99</cp:revision>
  <dcterms:created xsi:type="dcterms:W3CDTF">2012-09-01T17:35:17Z</dcterms:created>
  <dcterms:modified xsi:type="dcterms:W3CDTF">2025-10-03T15:52:11Z</dcterms:modified>
</cp:coreProperties>
</file>