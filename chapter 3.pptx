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81" r:id="rId2"/>
    <p:sldId id="322" r:id="rId3"/>
    <p:sldId id="331" r:id="rId4"/>
    <p:sldId id="323" r:id="rId5"/>
    <p:sldId id="324" r:id="rId6"/>
    <p:sldId id="325" r:id="rId7"/>
    <p:sldId id="257" r:id="rId8"/>
    <p:sldId id="326" r:id="rId9"/>
    <p:sldId id="282" r:id="rId10"/>
    <p:sldId id="258" r:id="rId11"/>
    <p:sldId id="304" r:id="rId12"/>
    <p:sldId id="310" r:id="rId13"/>
    <p:sldId id="263" r:id="rId14"/>
    <p:sldId id="264" r:id="rId15"/>
    <p:sldId id="311" r:id="rId16"/>
    <p:sldId id="269" r:id="rId17"/>
    <p:sldId id="327" r:id="rId18"/>
    <p:sldId id="288" r:id="rId19"/>
    <p:sldId id="267" r:id="rId20"/>
    <p:sldId id="272" r:id="rId21"/>
    <p:sldId id="308" r:id="rId22"/>
    <p:sldId id="309" r:id="rId23"/>
    <p:sldId id="313" r:id="rId24"/>
    <p:sldId id="314" r:id="rId25"/>
    <p:sldId id="315" r:id="rId26"/>
    <p:sldId id="316" r:id="rId27"/>
    <p:sldId id="319" r:id="rId28"/>
    <p:sldId id="317" r:id="rId29"/>
    <p:sldId id="320" r:id="rId30"/>
    <p:sldId id="321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506" y="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D22F8-8AAC-4B6B-90DF-11F6E5C205A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05D1-5258-4DB4-B7D5-880DB47CF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036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8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21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21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21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21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21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A73FC-D07C-C087-B800-9C702DBBA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2FDDC-A3C5-B395-4411-3250DDF46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D3D50-5AE2-599A-EBAD-1A1257F2F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88A7B-83C0-4F0A-A461-A279DB529F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74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8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8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79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7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7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9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9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50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8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28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7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32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6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75CC6-48DE-4ABD-9B30-452AA1BD9ED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74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3528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Making Decisions: the Selection Structure</a:t>
            </a:r>
            <a:br>
              <a:rPr lang="en-US" sz="4000">
                <a:solidFill>
                  <a:srgbClr val="0070C0"/>
                </a:solidFill>
                <a:latin typeface="Arial Rounded MT Bold" pitchFamily="34" charset="0"/>
              </a:rPr>
            </a:br>
            <a:endParaRPr lang="en-US" sz="4000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subTitle" idx="1"/>
          </p:nvPr>
        </p:nvSpPr>
        <p:spPr>
          <a:xfrm>
            <a:off x="1371600" y="2590800"/>
            <a:ext cx="6400800" cy="17526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Chapter 3</a:t>
            </a:r>
          </a:p>
        </p:txBody>
      </p:sp>
    </p:spTree>
    <p:extLst>
      <p:ext uri="{BB962C8B-B14F-4D97-AF65-F5344CB8AC3E}">
        <p14:creationId xmlns:p14="http://schemas.microsoft.com/office/powerpoint/2010/main" val="236959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BADD33-728C-41B1-6D09-A67257A1F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  <a:ea typeface="+mn-ea"/>
                <a:cs typeface="+mn-cs"/>
              </a:rPr>
              <a:t>Template literals/Template strings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18C19-AF69-5B4B-AC77-BCAA0FEF7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10800" b="1" dirty="0"/>
              <a:t>What</a:t>
            </a:r>
            <a:r>
              <a:rPr lang="en-US" sz="9200" b="1" dirty="0"/>
              <a:t> </a:t>
            </a:r>
            <a:r>
              <a:rPr lang="en-US" sz="10800" b="1" dirty="0"/>
              <a:t>are Template Literals?</a:t>
            </a:r>
          </a:p>
          <a:p>
            <a:r>
              <a:rPr lang="en-US" sz="11200" dirty="0"/>
              <a:t>Template literals, also known as template strings, are a feature introduced in ECMAScript 6 (ES6) that provide a convenient way to work with strings in JavaScript. They allow you to embed expressions within string literals, making it easier to create dynamic strings.</a:t>
            </a:r>
          </a:p>
          <a:p>
            <a:r>
              <a:rPr lang="en-US" sz="9600" b="1" dirty="0"/>
              <a:t>Advantages of Template Literals:</a:t>
            </a:r>
            <a:endParaRPr lang="en-US" sz="11200" dirty="0"/>
          </a:p>
          <a:p>
            <a:r>
              <a:rPr lang="en-US" sz="9600" b="1" dirty="0"/>
              <a:t>String interpolation: </a:t>
            </a:r>
            <a:r>
              <a:rPr lang="en-US" sz="9600" dirty="0"/>
              <a:t>Easily embed variables and expressions within strings.</a:t>
            </a:r>
          </a:p>
          <a:p>
            <a:r>
              <a:rPr lang="en-US" sz="9600" b="1" dirty="0"/>
              <a:t>Multiline strings</a:t>
            </a:r>
            <a:r>
              <a:rPr lang="en-US" sz="9600" dirty="0"/>
              <a:t>: Template literals can span multiple lines without the need for concatenation.</a:t>
            </a:r>
            <a:endParaRPr lang="en-US" sz="21600" dirty="0"/>
          </a:p>
          <a:p>
            <a:endParaRPr lang="en-US" sz="1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272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08FFB-FDE5-5C67-2DF2-2A83FE774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Syntax of Template Literals: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EF3C4-D9BD-B084-3DDE-0EA7EDB1D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Template literals are enclosed in backticks (`...`) instead of single or double quotes.</a:t>
            </a:r>
          </a:p>
          <a:p>
            <a:pPr marL="0" indent="0">
              <a:buNone/>
            </a:pPr>
            <a:endParaRPr lang="en-US" dirty="0"/>
          </a:p>
          <a:p>
            <a:pPr hangingPunct="0"/>
            <a:r>
              <a:rPr lang="en-US" sz="2800" dirty="0">
                <a:latin typeface="Courier New" pitchFamily="49" charset="0"/>
                <a:cs typeface="Courier New" pitchFamily="49" charset="0"/>
              </a:rPr>
              <a:t>const name = "Alice";</a:t>
            </a:r>
          </a:p>
          <a:p>
            <a:pPr hangingPunct="0"/>
            <a:r>
              <a:rPr lang="en-US" sz="2800" dirty="0">
                <a:latin typeface="Courier New" pitchFamily="49" charset="0"/>
                <a:cs typeface="Courier New" pitchFamily="49" charset="0"/>
              </a:rPr>
              <a:t>const message = `Hello, ${name}!`;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492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DDE7C-D649-69E9-C1E5-CEF71D4C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Variable Swapping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3D4FB-C5D2-8A19-9F2B-9A10A929A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55600">
              <a:lnSpc>
                <a:spcPct val="150000"/>
              </a:lnSpc>
              <a:spcBef>
                <a:spcPts val="370"/>
              </a:spcBef>
              <a:buSzPct val="64062"/>
              <a:tabLst>
                <a:tab pos="354965" algn="l"/>
                <a:tab pos="355600" algn="l"/>
              </a:tabLst>
            </a:pPr>
            <a:r>
              <a:rPr lang="en-US" b="1" dirty="0"/>
              <a:t>Variable swapping </a:t>
            </a:r>
            <a:r>
              <a:rPr lang="en-US" dirty="0"/>
              <a:t>is a practical application of control structures, and it can be achieved using various techniques. </a:t>
            </a:r>
            <a:r>
              <a:rPr lang="en-US" b="1" dirty="0"/>
              <a:t>Swapping variables </a:t>
            </a:r>
            <a:r>
              <a:rPr lang="en-US" dirty="0"/>
              <a:t>is often necessary when reordering data or reassigning values in your programs.</a:t>
            </a:r>
          </a:p>
          <a:p>
            <a:pPr marL="355600">
              <a:lnSpc>
                <a:spcPct val="150000"/>
              </a:lnSpc>
              <a:spcBef>
                <a:spcPts val="370"/>
              </a:spcBef>
              <a:buSzPct val="64062"/>
              <a:tabLst>
                <a:tab pos="354965" algn="l"/>
                <a:tab pos="355600" algn="l"/>
              </a:tabLst>
            </a:pPr>
            <a:r>
              <a:rPr lang="en-US" dirty="0">
                <a:cs typeface="Times New Roman" pitchFamily="18" charset="0"/>
              </a:rPr>
              <a:t>There are various methods to swap two variables:</a:t>
            </a:r>
          </a:p>
          <a:p>
            <a:pPr marL="755650" lvl="1">
              <a:lnSpc>
                <a:spcPct val="150000"/>
              </a:lnSpc>
              <a:spcBef>
                <a:spcPts val="370"/>
              </a:spcBef>
              <a:buSzPct val="64062"/>
              <a:tabLst>
                <a:tab pos="354965" algn="l"/>
                <a:tab pos="355600" algn="l"/>
              </a:tabLst>
            </a:pPr>
            <a:r>
              <a:rPr lang="en-US" dirty="0"/>
              <a:t>Using a Temporary Variable</a:t>
            </a:r>
          </a:p>
          <a:p>
            <a:pPr marL="755650" lvl="1">
              <a:lnSpc>
                <a:spcPct val="150000"/>
              </a:lnSpc>
              <a:spcBef>
                <a:spcPts val="370"/>
              </a:spcBef>
              <a:buSzPct val="64062"/>
              <a:tabLst>
                <a:tab pos="354965" algn="l"/>
                <a:tab pos="355600" algn="l"/>
              </a:tabLst>
            </a:pPr>
            <a:r>
              <a:rPr lang="en-US" dirty="0"/>
              <a:t>Using Arithmetic Operations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154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5EDA-43B8-C3D7-ECED-75E7D24BB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Using a Temporary Variable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962797-A161-0ABA-9EE1-3C4448821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562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7CB9-B83E-088D-D30C-8DE91408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Using Arithmetic Operations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2D74B8-87B5-5B01-3086-507BC8308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6401"/>
            <a:ext cx="8229600" cy="396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6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676400"/>
            <a:ext cx="3749040" cy="3124200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962400" cy="4691063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pPr algn="ctr"/>
            <a:endParaRPr lang="en-US" sz="4000" dirty="0">
              <a:solidFill>
                <a:srgbClr val="0070C0"/>
              </a:solidFill>
              <a:latin typeface="Arial Rounded MT Bold" pitchFamily="34" charset="0"/>
            </a:endParaRPr>
          </a:p>
          <a:p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Selection Structures</a:t>
            </a:r>
          </a:p>
        </p:txBody>
      </p:sp>
    </p:spTree>
    <p:extLst>
      <p:ext uri="{BB962C8B-B14F-4D97-AF65-F5344CB8AC3E}">
        <p14:creationId xmlns:p14="http://schemas.microsoft.com/office/powerpoint/2010/main" val="303125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9D7CE6-AAD1-A6EA-E479-33E3B4479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Conditional Statements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569D0-3DB5-0905-CF9B-72D49DBF6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libri (Body)"/>
              </a:rPr>
              <a:t>Conditional statements </a:t>
            </a:r>
            <a:r>
              <a:rPr lang="en-US" dirty="0">
                <a:latin typeface="Calibri (Body)"/>
              </a:rPr>
              <a:t>in JavaScript are used to make decisions in your code. They allow you to execute different blocks of code based on whether a specified condition evaluates to true or false.</a:t>
            </a:r>
          </a:p>
          <a:p>
            <a:pPr lvl="1"/>
            <a:r>
              <a:rPr lang="en-US" b="1" dirty="0">
                <a:latin typeface="Calibri (Body)"/>
              </a:rPr>
              <a:t>Single-alternative structures</a:t>
            </a:r>
          </a:p>
          <a:p>
            <a:pPr lvl="1"/>
            <a:r>
              <a:rPr lang="en-US" b="1" dirty="0">
                <a:latin typeface="Calibri (Body)"/>
              </a:rPr>
              <a:t>Dual-alternative structures</a:t>
            </a:r>
          </a:p>
          <a:p>
            <a:pPr lvl="1"/>
            <a:r>
              <a:rPr lang="en-US" b="1" dirty="0">
                <a:latin typeface="Calibri (Body)"/>
              </a:rPr>
              <a:t>Multiple-alternative structures</a:t>
            </a:r>
          </a:p>
          <a:p>
            <a:endParaRPr lang="en-US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660089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Single-alternative structures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Contains a single block of statements</a:t>
            </a:r>
            <a:endParaRPr lang="en-US" sz="1600" dirty="0"/>
          </a:p>
          <a:p>
            <a:r>
              <a:rPr lang="en-US" sz="2800" dirty="0"/>
              <a:t>If true, statements are executed</a:t>
            </a:r>
          </a:p>
          <a:p>
            <a:r>
              <a:rPr lang="en-US" sz="2800" dirty="0"/>
              <a:t>If not true, statements are skipped</a:t>
            </a:r>
          </a:p>
        </p:txBody>
      </p:sp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600200"/>
            <a:ext cx="329565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4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General Format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00050" lvl="1" indent="0" hangingPunc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if (test condition)</a:t>
            </a:r>
          </a:p>
          <a:p>
            <a:pPr marL="400050" lvl="1" indent="0" hangingPunc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00050" lvl="1" indent="0" hangingPunc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statement;</a:t>
            </a:r>
          </a:p>
          <a:p>
            <a:pPr marL="400050" lvl="1" indent="0" hangingPunc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statement;</a:t>
            </a:r>
          </a:p>
          <a:p>
            <a:pPr marL="400050" lvl="1" indent="0" hangingPunc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	.</a:t>
            </a:r>
          </a:p>
          <a:p>
            <a:pPr marL="400050" lvl="1" indent="0" hangingPunc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	.</a:t>
            </a:r>
          </a:p>
          <a:p>
            <a:pPr marL="400050" lvl="1" indent="0" hangingPunc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	.</a:t>
            </a:r>
          </a:p>
          <a:p>
            <a:pPr marL="400050" lvl="1" indent="0" hangingPunc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statement;</a:t>
            </a:r>
          </a:p>
          <a:p>
            <a:pPr marL="400050" lvl="1" indent="0" hangingPunc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0363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Is it snowing?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AU" sz="1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temp</a:t>
            </a:r>
            <a:r>
              <a:rPr lang="en-AU" sz="1800" dirty="0">
                <a:latin typeface="Courier New" pitchFamily="49" charset="0"/>
                <a:cs typeface="Courier New" pitchFamily="49" charset="0"/>
              </a:rPr>
              <a:t> = prompt("What's the temperature today?", "degrees F");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sz="1800" dirty="0">
                <a:latin typeface="Courier New" pitchFamily="49" charset="0"/>
                <a:cs typeface="Courier New" pitchFamily="49" charset="0"/>
              </a:rPr>
              <a:t>    if (</a:t>
            </a:r>
            <a:r>
              <a:rPr lang="en-AU" sz="1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temp</a:t>
            </a:r>
            <a:r>
              <a:rPr lang="en-AU" sz="1800" dirty="0">
                <a:latin typeface="Courier New" pitchFamily="49" charset="0"/>
                <a:cs typeface="Courier New" pitchFamily="49" charset="0"/>
              </a:rPr>
              <a:t> &lt; 32)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sz="1800" dirty="0">
                <a:latin typeface="Courier New" pitchFamily="49" charset="0"/>
                <a:cs typeface="Courier New" pitchFamily="49" charset="0"/>
              </a:rPr>
              <a:t>    {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sz="1800" dirty="0">
                <a:latin typeface="Courier New" pitchFamily="49" charset="0"/>
                <a:cs typeface="Courier New" pitchFamily="49" charset="0"/>
              </a:rPr>
              <a:t>  	console.log("It may snow today!");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sz="1800" dirty="0">
                <a:latin typeface="Courier New" pitchFamily="49" charset="0"/>
                <a:cs typeface="Courier New" pitchFamily="49" charset="0"/>
              </a:rPr>
              <a:t>    }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800" dirty="0">
                <a:latin typeface="Calibri (Body)"/>
              </a:rPr>
              <a:t>Will display only if temperature &lt; 32</a:t>
            </a:r>
            <a:r>
              <a:rPr lang="en-US" sz="2800" baseline="30000" dirty="0">
                <a:latin typeface="Calibri (Body)"/>
              </a:rPr>
              <a:t>0</a:t>
            </a:r>
          </a:p>
          <a:p>
            <a:r>
              <a:rPr lang="en-US" sz="2800" dirty="0">
                <a:latin typeface="Calibri (Body)"/>
              </a:rPr>
              <a:t>Note: will not display if temperature = 32</a:t>
            </a:r>
          </a:p>
          <a:p>
            <a:r>
              <a:rPr lang="en-US" sz="2800" dirty="0">
                <a:latin typeface="Calibri (Body)"/>
              </a:rPr>
              <a:t>Curly brackets { } are optional when there is only one statement in the </a:t>
            </a:r>
            <a:r>
              <a:rPr lang="en-US" sz="2800" dirty="0">
                <a:latin typeface="Calibri (Body)"/>
                <a:cs typeface="Courier New" pitchFamily="49" charset="0"/>
              </a:rPr>
              <a:t>if</a:t>
            </a:r>
            <a:r>
              <a:rPr lang="en-US" sz="2800" dirty="0">
                <a:latin typeface="Calibri (Body)"/>
              </a:rPr>
              <a:t> block </a:t>
            </a:r>
            <a:endParaRPr lang="en-US" sz="2800" baseline="300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636980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Dual-alternative structures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Contains two blocks of statements</a:t>
            </a:r>
            <a:endParaRPr lang="en-US" sz="1600" dirty="0"/>
          </a:p>
          <a:p>
            <a:r>
              <a:rPr lang="en-US" sz="2800" dirty="0"/>
              <a:t>If true, first block of statements is executed</a:t>
            </a:r>
          </a:p>
          <a:p>
            <a:r>
              <a:rPr lang="en-US" sz="2800" dirty="0"/>
              <a:t>If not true, second block of statements is executed</a:t>
            </a:r>
          </a:p>
        </p:txBody>
      </p:sp>
      <p:pic>
        <p:nvPicPr>
          <p:cNvPr id="8" name="Content Placeholder 7"/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575" y="1986756"/>
            <a:ext cx="337185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742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b="1" dirty="0"/>
              <a:t>General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Autofit/>
          </a:bodyPr>
          <a:lstStyle/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if (test condition)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statement;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statement;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.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.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.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statement;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statement;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statement;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.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.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.</a:t>
            </a:r>
          </a:p>
          <a:p>
            <a:pPr marL="1257300" lvl="3" indent="0" hangingPunct="0">
              <a:spcBef>
                <a:spcPts val="0"/>
              </a:spcBef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8760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020762"/>
          </a:xfrm>
        </p:spPr>
        <p:txBody>
          <a:bodyPr>
            <a:normAutofit/>
          </a:bodyPr>
          <a:lstStyle/>
          <a:p>
            <a:r>
              <a:rPr lang="en-US" dirty="0"/>
              <a:t>Example: Is it snowing?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534400" cy="4830763"/>
          </a:xfrm>
        </p:spPr>
        <p:txBody>
          <a:bodyPr>
            <a:normAutofit/>
          </a:bodyPr>
          <a:lstStyle/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temp = prompt("What's the temperature today?", "degrees F");</a:t>
            </a:r>
          </a:p>
          <a:p>
            <a:pPr marL="0" indent="0" hangingPunct="0">
              <a:buNone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if (temp &lt; 32) {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console.log("It may snow today!");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console.log("It will not snow today.");</a:t>
            </a:r>
          </a:p>
          <a:p>
            <a:pPr marL="0" indent="0" hangingPunct="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1" indent="-342900" hangingPunct="0"/>
            <a:r>
              <a:rPr lang="en-US" altLang="en-US" sz="2400" dirty="0"/>
              <a:t>If temp &lt; 32 → Snow message appears</a:t>
            </a:r>
          </a:p>
          <a:p>
            <a:pPr lvl="1" indent="-342900" hangingPunct="0"/>
            <a:r>
              <a:rPr lang="en-US" altLang="en-US" sz="2400" dirty="0"/>
              <a:t>If temp &gt;= 32 → No snow message appears (else part runs)</a:t>
            </a:r>
          </a:p>
          <a:p>
            <a:pPr marL="0" indent="0" hangingPunct="0"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92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Multiple-alternative structures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Contains more than two blocks of statements</a:t>
            </a:r>
          </a:p>
          <a:p>
            <a:r>
              <a:rPr lang="en-US" sz="2400" dirty="0"/>
              <a:t>If true, first block of statements is executed</a:t>
            </a:r>
          </a:p>
          <a:p>
            <a:r>
              <a:rPr lang="en-US" sz="2400" dirty="0"/>
              <a:t>If not true, second condition is checked </a:t>
            </a:r>
          </a:p>
          <a:p>
            <a:r>
              <a:rPr lang="en-US" sz="2400" dirty="0"/>
              <a:t>If true, that block of statements is executed</a:t>
            </a:r>
          </a:p>
          <a:p>
            <a:r>
              <a:rPr lang="en-US" sz="2400" dirty="0"/>
              <a:t>If not true, another condition is checked</a:t>
            </a:r>
          </a:p>
          <a:p>
            <a:r>
              <a:rPr lang="en-US" sz="2400" dirty="0"/>
              <a:t>And so on…</a:t>
            </a:r>
          </a:p>
        </p:txBody>
      </p:sp>
      <p:pic>
        <p:nvPicPr>
          <p:cNvPr id="9" name="Content Placeholder 8"/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920775"/>
            <a:ext cx="4038600" cy="388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27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/>
              <a:t>General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if (test condition1)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if (test condition2)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block of statements to be executed if both condition1 and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condition2 are true;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else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block of statements to be executed if condition1 is true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but condition2 is not true;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block of statements to be executed if condition1 is false;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1772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80B70-8916-CA1C-DF42-87A66172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062E-F568-F119-423F-4205A5FE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020762"/>
          </a:xfrm>
        </p:spPr>
        <p:txBody>
          <a:bodyPr>
            <a:normAutofit/>
          </a:bodyPr>
          <a:lstStyle/>
          <a:p>
            <a:r>
              <a:rPr lang="en-US" dirty="0"/>
              <a:t>Example: Is it snowing?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E3A81-B667-622E-A50C-F1188DBBC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00"/>
            <a:ext cx="8534400" cy="4830763"/>
          </a:xfrm>
        </p:spPr>
        <p:txBody>
          <a:bodyPr>
            <a:normAutofit fontScale="85000" lnSpcReduction="10000"/>
          </a:bodyPr>
          <a:lstStyle/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let temp = prompt("What's the temperature today?", "degrees F");</a:t>
            </a:r>
          </a:p>
          <a:p>
            <a:pPr marL="0" indent="0" hangingPunct="0">
              <a:buNone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if (temp &gt;= 32) {  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// Condition1: Is it above freezing?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if (temp &lt; 60) {  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  // Condition2: Between 32 and 59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  console.log("It's cool outside.");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} else {  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  // Condition1 true, but Condition2 false (60 or more)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   console.log("The weather is warm or hot.");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 else {  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// Condition1 false (below 32)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console.log("It may snow today!");</a:t>
            </a:r>
          </a:p>
          <a:p>
            <a:pPr marL="0" indent="0" hangingPunct="0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 hangingPunct="0"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612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962400" cy="4691063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Compound Conditions</a:t>
            </a:r>
          </a:p>
        </p:txBody>
      </p:sp>
      <p:pic>
        <p:nvPicPr>
          <p:cNvPr id="7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371600"/>
            <a:ext cx="3886200" cy="3238500"/>
          </a:xfrm>
        </p:spPr>
      </p:pic>
    </p:spTree>
    <p:extLst>
      <p:ext uri="{BB962C8B-B14F-4D97-AF65-F5344CB8AC3E}">
        <p14:creationId xmlns:p14="http://schemas.microsoft.com/office/powerpoint/2010/main" val="202156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229600" cy="1219200"/>
          </a:xfrm>
        </p:spPr>
        <p:txBody>
          <a:bodyPr>
            <a:normAutofit/>
          </a:bodyPr>
          <a:lstStyle/>
          <a:p>
            <a:r>
              <a:rPr lang="en-US" sz="4000" b="1" dirty="0"/>
              <a:t>Logical Operators (revisited)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49763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The result of an expression with logical operators is always either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2800" dirty="0"/>
              <a:t> or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false</a:t>
            </a:r>
          </a:p>
          <a:p>
            <a:r>
              <a:rPr lang="en-US" sz="2800" dirty="0"/>
              <a:t>The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AND </a:t>
            </a:r>
            <a:r>
              <a:rPr lang="en-US" sz="2800" dirty="0"/>
              <a:t>operator is written as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&amp;&amp;</a:t>
            </a:r>
          </a:p>
          <a:p>
            <a:pPr lvl="1"/>
            <a:r>
              <a:rPr lang="en-US" sz="2400" dirty="0"/>
              <a:t>Always results in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sz="2400" dirty="0"/>
              <a:t> unless both sides of the expression are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true</a:t>
            </a:r>
          </a:p>
          <a:p>
            <a:r>
              <a:rPr lang="en-US" sz="2800" dirty="0"/>
              <a:t>The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OR</a:t>
            </a:r>
            <a:r>
              <a:rPr lang="en-US" sz="2800" dirty="0"/>
              <a:t> operators is written as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||</a:t>
            </a:r>
          </a:p>
          <a:p>
            <a:pPr lvl="1"/>
            <a:r>
              <a:rPr lang="en-US" sz="2400" dirty="0"/>
              <a:t>Always results in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2400" dirty="0"/>
              <a:t> unless both sides of the expression are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false</a:t>
            </a:r>
          </a:p>
          <a:p>
            <a:r>
              <a:rPr lang="en-US" sz="2800" dirty="0"/>
              <a:t>The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NOT</a:t>
            </a:r>
            <a:r>
              <a:rPr lang="en-US" sz="2800" dirty="0"/>
              <a:t> operator is written as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!</a:t>
            </a:r>
          </a:p>
          <a:p>
            <a:pPr lvl="1"/>
            <a:r>
              <a:rPr lang="en-US" sz="2400" dirty="0"/>
              <a:t>It is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2400" dirty="0"/>
              <a:t> if the expression is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sz="2400" dirty="0"/>
              <a:t> and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sz="2400" dirty="0"/>
              <a:t> if the expression is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372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Syntax for Writing Compound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if (condition 1 &amp;&amp; condition 2)</a:t>
            </a:r>
            <a:endParaRPr lang="en-US" sz="2000" dirty="0"/>
          </a:p>
          <a:p>
            <a:pPr marL="0" indent="0">
              <a:buNone/>
            </a:pPr>
            <a:r>
              <a:rPr lang="en-US" sz="2600" dirty="0"/>
              <a:t>Must write a complete condition each time. </a:t>
            </a:r>
            <a:r>
              <a:rPr lang="en-AU" sz="2600" dirty="0"/>
              <a:t>The entire compound condition must be enclosed within the parentheses and, for each condition, the whole condition, including the variable, the relational operator, and the test, must be included. </a:t>
            </a:r>
            <a:endParaRPr lang="en-US" sz="2600" dirty="0"/>
          </a:p>
          <a:p>
            <a:pPr marL="0" indent="0">
              <a:buNone/>
            </a:pPr>
            <a:r>
              <a:rPr lang="en-US" sz="2000" dirty="0"/>
              <a:t>	Would not work:	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&gt; 5 &amp;&amp; &lt; 12)</a:t>
            </a:r>
          </a:p>
          <a:p>
            <a:pPr marL="0" indent="0">
              <a:buNone/>
            </a:pPr>
            <a:r>
              <a:rPr lang="en-US" sz="2000" dirty="0"/>
              <a:t>	Would not work: 	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&gt; 5) &amp;&amp; (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&lt; 12)</a:t>
            </a:r>
          </a:p>
          <a:p>
            <a:pPr marL="0" indent="0">
              <a:buNone/>
            </a:pPr>
            <a:r>
              <a:rPr lang="en-US" sz="2000" dirty="0"/>
              <a:t>	Correct syntax: 	</a:t>
            </a:r>
            <a:r>
              <a:rPr lang="en-AU" sz="20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AU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en-AU" sz="2000" dirty="0">
                <a:latin typeface="Courier New" pitchFamily="49" charset="0"/>
                <a:cs typeface="Courier New" pitchFamily="49" charset="0"/>
              </a:rPr>
              <a:t> &gt; 5 &amp;&amp; </a:t>
            </a:r>
            <a:r>
              <a:rPr lang="en-AU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en-AU" sz="2000" dirty="0">
                <a:latin typeface="Courier New" pitchFamily="49" charset="0"/>
                <a:cs typeface="Courier New" pitchFamily="49" charset="0"/>
              </a:rPr>
              <a:t> &lt; 12)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08498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Using </a:t>
            </a:r>
            <a:r>
              <a:rPr lang="en-US" sz="4000" dirty="0">
                <a:latin typeface="Courier New" pitchFamily="49" charset="0"/>
                <a:cs typeface="Courier New" pitchFamily="49" charset="0"/>
              </a:rPr>
              <a:t>AND</a:t>
            </a:r>
            <a:r>
              <a:rPr lang="en-US" sz="4000" dirty="0"/>
              <a:t> and </a:t>
            </a:r>
            <a:r>
              <a:rPr lang="en-US" sz="4000" dirty="0">
                <a:latin typeface="Courier New" pitchFamily="49" charset="0"/>
                <a:cs typeface="Courier New" pitchFamily="49" charset="0"/>
              </a:rPr>
              <a:t>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hangingPunct="0">
              <a:buNone/>
            </a:pPr>
            <a:r>
              <a:rPr lang="en-AU" sz="2400" dirty="0"/>
              <a:t>Most of the time either operator, so long as the conditions are written carefully, can work in a given situation. </a:t>
            </a:r>
          </a:p>
          <a:p>
            <a:pPr marL="0" indent="0" hangingPunct="0">
              <a:buNone/>
            </a:pPr>
            <a:r>
              <a:rPr lang="en-AU" sz="2400" b="1" dirty="0"/>
              <a:t>Example: </a:t>
            </a:r>
            <a:r>
              <a:rPr lang="en-AU" sz="2400" dirty="0"/>
              <a:t>to allow only the integers 6, 7, 8, and 9 to be true:</a:t>
            </a:r>
          </a:p>
          <a:p>
            <a:pPr marL="0" indent="0" hangingPunct="0">
              <a:buNone/>
            </a:pPr>
            <a:r>
              <a:rPr lang="en-AU" sz="2400" dirty="0"/>
              <a:t>Use the </a:t>
            </a:r>
            <a:r>
              <a:rPr lang="en-AU" sz="2400" dirty="0">
                <a:latin typeface="Courier New" pitchFamily="49" charset="0"/>
                <a:cs typeface="Courier New" pitchFamily="49" charset="0"/>
              </a:rPr>
              <a:t>AND</a:t>
            </a:r>
            <a:r>
              <a:rPr lang="en-AU" sz="2400" dirty="0"/>
              <a:t> operator to specify that any integer greater than 5 and less than 10 is acceptable. </a:t>
            </a:r>
          </a:p>
          <a:p>
            <a:pPr marL="0" indent="0" hangingPunct="0">
              <a:buNone/>
            </a:pPr>
            <a:r>
              <a:rPr lang="en-AU" sz="2400" dirty="0"/>
              <a:t>	</a:t>
            </a:r>
            <a:r>
              <a:rPr lang="en-AU" sz="2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AU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num</a:t>
            </a:r>
            <a:r>
              <a:rPr lang="en-AU" sz="2400" dirty="0">
                <a:latin typeface="Courier New" pitchFamily="49" charset="0"/>
                <a:cs typeface="Courier New" pitchFamily="49" charset="0"/>
              </a:rPr>
              <a:t> &gt; 5 &amp;&amp; </a:t>
            </a:r>
            <a:r>
              <a:rPr lang="en-AU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num</a:t>
            </a:r>
            <a:r>
              <a:rPr lang="en-AU" sz="2400" dirty="0">
                <a:latin typeface="Courier New" pitchFamily="49" charset="0"/>
                <a:cs typeface="Courier New" pitchFamily="49" charset="0"/>
              </a:rPr>
              <a:t> &lt; 10)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sz="2400" dirty="0"/>
              <a:t>This is true if </a:t>
            </a:r>
            <a:r>
              <a:rPr lang="en-AU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num</a:t>
            </a:r>
            <a:r>
              <a:rPr lang="en-AU" sz="2400" dirty="0"/>
              <a:t> is 6, 7, 8, or 9. </a:t>
            </a:r>
          </a:p>
          <a:p>
            <a:pPr marL="0" indent="0" hangingPunct="0">
              <a:buNone/>
            </a:pPr>
            <a:r>
              <a:rPr lang="en-AU" sz="2400" dirty="0"/>
              <a:t>Use the </a:t>
            </a:r>
            <a:r>
              <a:rPr lang="en-AU" sz="2400" dirty="0">
                <a:latin typeface="Courier New" pitchFamily="49" charset="0"/>
                <a:cs typeface="Courier New" pitchFamily="49" charset="0"/>
              </a:rPr>
              <a:t>OR</a:t>
            </a:r>
            <a:r>
              <a:rPr lang="en-AU" sz="2400" dirty="0"/>
              <a:t> operator to specify that any integer less than or equal to 5 or greater than or equal to 10 is</a:t>
            </a:r>
            <a:r>
              <a:rPr lang="en-US" sz="2400" dirty="0"/>
              <a:t> </a:t>
            </a:r>
            <a:r>
              <a:rPr lang="en-AU" sz="2400" dirty="0"/>
              <a:t>false. Then use the </a:t>
            </a:r>
            <a:r>
              <a:rPr lang="en-AU" sz="2400" dirty="0">
                <a:latin typeface="Courier New" pitchFamily="49" charset="0"/>
                <a:cs typeface="Courier New" pitchFamily="49" charset="0"/>
              </a:rPr>
              <a:t>NOT</a:t>
            </a:r>
            <a:r>
              <a:rPr lang="en-AU" sz="2400" dirty="0"/>
              <a:t> operator to make it true when </a:t>
            </a:r>
            <a:r>
              <a:rPr lang="en-AU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num</a:t>
            </a:r>
            <a:r>
              <a:rPr lang="en-AU" sz="2400" dirty="0"/>
              <a:t> is 6, 7, 8, or 9.</a:t>
            </a:r>
            <a:endParaRPr lang="en-US" sz="2400" dirty="0"/>
          </a:p>
          <a:p>
            <a:pPr marL="0" indent="0" hangingPunct="0">
              <a:buNone/>
            </a:pPr>
            <a:r>
              <a:rPr lang="en-AU" sz="2400" dirty="0"/>
              <a:t>	</a:t>
            </a:r>
            <a:r>
              <a:rPr lang="en-AU" sz="2400" dirty="0">
                <a:latin typeface="Courier New" pitchFamily="49" charset="0"/>
                <a:cs typeface="Courier New" pitchFamily="49" charset="0"/>
              </a:rPr>
              <a:t>!(</a:t>
            </a:r>
            <a:r>
              <a:rPr lang="en-AU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num</a:t>
            </a:r>
            <a:r>
              <a:rPr lang="en-AU" sz="2400" dirty="0">
                <a:latin typeface="Courier New" pitchFamily="49" charset="0"/>
                <a:cs typeface="Courier New" pitchFamily="49" charset="0"/>
              </a:rPr>
              <a:t> &lt;= 5 || </a:t>
            </a:r>
            <a:r>
              <a:rPr lang="en-AU" sz="2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num</a:t>
            </a:r>
            <a:r>
              <a:rPr lang="en-AU" sz="2400" dirty="0">
                <a:latin typeface="Courier New" pitchFamily="49" charset="0"/>
                <a:cs typeface="Courier New" pitchFamily="49" charset="0"/>
              </a:rPr>
              <a:t> &gt;= 10)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US" sz="2400" dirty="0"/>
              <a:t>Both produce the same result. </a:t>
            </a:r>
          </a:p>
          <a:p>
            <a:pPr marL="0" indent="0"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557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Calculating overtime pay with the 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AND</a:t>
            </a:r>
            <a:r>
              <a:rPr lang="en-US" sz="2800" b="1" dirty="0"/>
              <a:t>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229600" cy="4525963"/>
          </a:xfrm>
        </p:spPr>
        <p:txBody>
          <a:bodyPr>
            <a:noAutofit/>
          </a:bodyPr>
          <a:lstStyle/>
          <a:p>
            <a:pPr marL="400050" lvl="1" indent="0" hangingPunc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prompt("What is the employee's pay rate?");</a:t>
            </a:r>
          </a:p>
          <a:p>
            <a:pPr marL="400050" lvl="1" indent="0" hangingPunc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hours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prompt("How many hours did the employee work this week?");</a:t>
            </a:r>
          </a:p>
          <a:p>
            <a:pPr marL="400050" lvl="1" indent="0" hangingPunct="0"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400050" lvl="1" indent="0" hangingPunc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hours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&gt; 40 &amp;&amp; </a:t>
            </a: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 20) {</a:t>
            </a:r>
          </a:p>
          <a:p>
            <a:pPr marL="400050" lvl="1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overtime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rate * 1.5 * (hours - 40);</a:t>
            </a:r>
          </a:p>
          <a:p>
            <a:pPr marL="400050" lvl="1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regular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rate * 40;</a:t>
            </a:r>
          </a:p>
          <a:p>
            <a:pPr marL="400050" lvl="1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pay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overtime + regular;</a:t>
            </a:r>
          </a:p>
          <a:p>
            <a:pPr marL="400050" lvl="1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 </a:t>
            </a: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400050" lvl="1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pay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hours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00050" lvl="1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00050" lvl="1" indent="0" hangingPunct="0"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400050" lvl="1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console.log("Your paycheck this week will be $ " + </a:t>
            </a:r>
            <a:r>
              <a:rPr lang="en-US" sz="1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pay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28068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Calculating overtime pay with the 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OR</a:t>
            </a:r>
            <a:r>
              <a:rPr lang="en-US" sz="2800" b="1" dirty="0"/>
              <a:t>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4983163"/>
          </a:xfrm>
        </p:spPr>
        <p:txBody>
          <a:bodyPr>
            <a:noAutofit/>
          </a:bodyPr>
          <a:lstStyle/>
          <a:p>
            <a:pPr marL="400050" lvl="1" indent="0" hangingPunc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= prompt("What is the employee's pay rate");</a:t>
            </a:r>
          </a:p>
          <a:p>
            <a:pPr marL="400050" lvl="1" indent="0" hangingPunc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hours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= prompt("How many hours did the employee work this week?");</a:t>
            </a:r>
          </a:p>
          <a:p>
            <a:pPr marL="400050" lvl="1" indent="0" hangingPunc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hours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&lt;= 40 ||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&gt;= 20) {</a:t>
            </a:r>
          </a:p>
          <a:p>
            <a:pPr marL="400050" lvl="1" indent="0" hangingPunc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pay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hours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00050" lvl="1" indent="0" hangingPunc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}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400050" lvl="1" indent="0" hangingPunc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overtime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* 1.5 * (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hours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- 40);</a:t>
            </a:r>
          </a:p>
          <a:p>
            <a:pPr marL="400050" lvl="1" indent="0" hangingPunc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regular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* 40;</a:t>
            </a:r>
          </a:p>
          <a:p>
            <a:pPr marL="400050" lvl="1" indent="0" hangingPunc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pay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overtime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regular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400050" lvl="1" indent="0" hangingPunc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400050" lvl="1" indent="0" hangingPunc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console.log("Your paycheck this week will be $ " + </a:t>
            </a:r>
            <a:r>
              <a:rPr lang="en-US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pay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75200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962400" cy="4691063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Multiple-Alternative Selection Structures</a:t>
            </a:r>
          </a:p>
        </p:txBody>
      </p:sp>
      <p:pic>
        <p:nvPicPr>
          <p:cNvPr id="7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914400"/>
            <a:ext cx="4023360" cy="3352800"/>
          </a:xfrm>
        </p:spPr>
      </p:pic>
    </p:spTree>
    <p:extLst>
      <p:ext uri="{BB962C8B-B14F-4D97-AF65-F5344CB8AC3E}">
        <p14:creationId xmlns:p14="http://schemas.microsoft.com/office/powerpoint/2010/main" val="1870117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 Format: </a:t>
            </a:r>
            <a:br>
              <a:rPr lang="en-US" dirty="0"/>
            </a:br>
            <a:r>
              <a:rPr lang="en-AU" dirty="0"/>
              <a:t>The</a:t>
            </a:r>
            <a:r>
              <a:rPr lang="en-AU" dirty="0">
                <a:latin typeface="Courier New" pitchFamily="49" charset="0"/>
                <a:cs typeface="Courier New" pitchFamily="49" charset="0"/>
              </a:rPr>
              <a:t> if...else if... </a:t>
            </a:r>
            <a:r>
              <a:rPr lang="en-AU" dirty="0"/>
              <a:t>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endParaRPr lang="en-AU" sz="2200" dirty="0"/>
          </a:p>
          <a:p>
            <a:pPr marL="400050" lvl="1" indent="0" hangingPunct="0">
              <a:buNone/>
            </a:pPr>
            <a:r>
              <a:rPr lang="en-AU" sz="2000" dirty="0">
                <a:latin typeface="Courier New" pitchFamily="49" charset="0"/>
                <a:cs typeface="Courier New" pitchFamily="49" charset="0"/>
              </a:rPr>
              <a:t>if (test condition 1)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400050" lvl="1" indent="0" hangingPunct="0">
              <a:buNone/>
            </a:pPr>
            <a:r>
              <a:rPr lang="en-AU" sz="2000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en-AU" sz="2000" dirty="0">
                <a:latin typeface="Courier New" pitchFamily="49" charset="0"/>
                <a:cs typeface="Courier New" pitchFamily="49" charset="0"/>
              </a:rPr>
            </a:br>
            <a:r>
              <a:rPr lang="en-AU" sz="2000" dirty="0">
                <a:latin typeface="Courier New" pitchFamily="49" charset="0"/>
                <a:cs typeface="Courier New" pitchFamily="49" charset="0"/>
              </a:rPr>
              <a:t> 	statements to be executed;</a:t>
            </a:r>
            <a:br>
              <a:rPr lang="en-AU" sz="2000" dirty="0">
                <a:latin typeface="Courier New" pitchFamily="49" charset="0"/>
                <a:cs typeface="Courier New" pitchFamily="49" charset="0"/>
              </a:rPr>
            </a:br>
            <a:r>
              <a:rPr lang="en-AU" sz="2000" dirty="0">
                <a:latin typeface="Courier New" pitchFamily="49" charset="0"/>
                <a:cs typeface="Courier New" pitchFamily="49" charset="0"/>
              </a:rPr>
              <a:t>}</a:t>
            </a:r>
            <a:br>
              <a:rPr lang="en-AU" sz="2000" dirty="0">
                <a:latin typeface="Courier New" pitchFamily="49" charset="0"/>
                <a:cs typeface="Courier New" pitchFamily="49" charset="0"/>
              </a:rPr>
            </a:br>
            <a:r>
              <a:rPr lang="en-AU" sz="2000" dirty="0">
                <a:latin typeface="Courier New" pitchFamily="49" charset="0"/>
                <a:cs typeface="Courier New" pitchFamily="49" charset="0"/>
              </a:rPr>
              <a:t>else if (test condition 2)</a:t>
            </a:r>
            <a:br>
              <a:rPr lang="en-AU" sz="2000" dirty="0">
                <a:latin typeface="Courier New" pitchFamily="49" charset="0"/>
                <a:cs typeface="Courier New" pitchFamily="49" charset="0"/>
              </a:rPr>
            </a:br>
            <a:r>
              <a:rPr lang="en-AU" sz="2000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en-AU" sz="2000" dirty="0">
                <a:latin typeface="Courier New" pitchFamily="49" charset="0"/>
                <a:cs typeface="Courier New" pitchFamily="49" charset="0"/>
              </a:rPr>
            </a:br>
            <a:r>
              <a:rPr lang="en-AU" sz="2000" dirty="0">
                <a:latin typeface="Courier New" pitchFamily="49" charset="0"/>
                <a:cs typeface="Courier New" pitchFamily="49" charset="0"/>
              </a:rPr>
              <a:t>  	statements to be executed;</a:t>
            </a:r>
            <a:br>
              <a:rPr lang="en-AU" sz="2000" dirty="0">
                <a:latin typeface="Courier New" pitchFamily="49" charset="0"/>
                <a:cs typeface="Courier New" pitchFamily="49" charset="0"/>
              </a:rPr>
            </a:br>
            <a:r>
              <a:rPr lang="en-AU" sz="2000" dirty="0">
                <a:latin typeface="Courier New" pitchFamily="49" charset="0"/>
                <a:cs typeface="Courier New" pitchFamily="49" charset="0"/>
              </a:rPr>
              <a:t>}</a:t>
            </a:r>
            <a:br>
              <a:rPr lang="en-AU" sz="2000" dirty="0">
                <a:latin typeface="Courier New" pitchFamily="49" charset="0"/>
                <a:cs typeface="Courier New" pitchFamily="49" charset="0"/>
              </a:rPr>
            </a:br>
            <a:r>
              <a:rPr lang="en-AU" sz="2000" dirty="0">
                <a:latin typeface="Courier New" pitchFamily="49" charset="0"/>
                <a:cs typeface="Courier New" pitchFamily="49" charset="0"/>
              </a:rPr>
              <a:t>else</a:t>
            </a:r>
            <a:br>
              <a:rPr lang="en-AU" sz="2000" dirty="0">
                <a:latin typeface="Courier New" pitchFamily="49" charset="0"/>
                <a:cs typeface="Courier New" pitchFamily="49" charset="0"/>
              </a:rPr>
            </a:br>
            <a:r>
              <a:rPr lang="en-AU" sz="2000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en-AU" sz="2000" dirty="0">
                <a:latin typeface="Courier New" pitchFamily="49" charset="0"/>
                <a:cs typeface="Courier New" pitchFamily="49" charset="0"/>
              </a:rPr>
            </a:br>
            <a:r>
              <a:rPr lang="en-AU" sz="2000" dirty="0">
                <a:latin typeface="Courier New" pitchFamily="49" charset="0"/>
                <a:cs typeface="Courier New" pitchFamily="49" charset="0"/>
              </a:rPr>
              <a:t>  	statements to be executed if neither condition</a:t>
            </a:r>
          </a:p>
          <a:p>
            <a:pPr marL="400050" lvl="1" indent="0" hangingPunct="0">
              <a:buNone/>
            </a:pPr>
            <a:r>
              <a:rPr lang="en-AU" sz="2000" dirty="0">
                <a:latin typeface="Courier New" pitchFamily="49" charset="0"/>
                <a:cs typeface="Courier New" pitchFamily="49" charset="0"/>
              </a:rPr>
              <a:t>		1 nor condition 2 are true;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400050" lvl="1" indent="0" hangingPunct="0">
              <a:buNone/>
            </a:pPr>
            <a:r>
              <a:rPr lang="en-AU" sz="2000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835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A Rating System Using </a:t>
            </a:r>
            <a:br>
              <a:rPr lang="en-US" dirty="0"/>
            </a:br>
            <a:r>
              <a:rPr lang="en-US" dirty="0"/>
              <a:t>t</a:t>
            </a:r>
            <a:r>
              <a:rPr lang="en-AU" dirty="0"/>
              <a:t>he</a:t>
            </a:r>
            <a:r>
              <a:rPr lang="en-AU" dirty="0">
                <a:latin typeface="Courier New" pitchFamily="49" charset="0"/>
                <a:cs typeface="Courier New" pitchFamily="49" charset="0"/>
              </a:rPr>
              <a:t> if...else if... </a:t>
            </a:r>
            <a:r>
              <a:rPr lang="en-AU" dirty="0"/>
              <a:t>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AU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= prompt("Rate the site from 1 to 10,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sz="1600" dirty="0">
                <a:latin typeface="Courier New" pitchFamily="49" charset="0"/>
                <a:cs typeface="Courier New" pitchFamily="49" charset="0"/>
              </a:rPr>
              <a:t>			with 10 as the best"," ");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AU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grade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= " "</a:t>
            </a: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if (</a:t>
            </a:r>
            <a:r>
              <a:rPr lang="en-AU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== 10)</a:t>
            </a: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AU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grade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= "A";</a:t>
            </a: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else if (</a:t>
            </a:r>
            <a:r>
              <a:rPr lang="en-AU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&gt;= 7 &amp;&amp; </a:t>
            </a:r>
            <a:r>
              <a:rPr lang="en-AU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&lt;= 9)</a:t>
            </a: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AU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grade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= "B";</a:t>
            </a: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	else if (</a:t>
            </a:r>
            <a:r>
              <a:rPr lang="en-AU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&gt;= 4 &amp;&amp; </a:t>
            </a:r>
            <a:r>
              <a:rPr lang="en-AU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&lt; 7)</a:t>
            </a: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AU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grade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= "C";</a:t>
            </a: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		else </a:t>
            </a: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AU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grade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= "D";</a:t>
            </a: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console.log(“You gave the site a rating of " +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sz="1600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AU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grade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“)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342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 Format: </a:t>
            </a:r>
            <a:br>
              <a:rPr lang="en-US" dirty="0"/>
            </a:br>
            <a:r>
              <a:rPr lang="en-AU" dirty="0"/>
              <a:t>The</a:t>
            </a:r>
            <a:r>
              <a:rPr lang="en-AU" dirty="0">
                <a:latin typeface="Courier New" pitchFamily="49" charset="0"/>
                <a:cs typeface="Courier New" pitchFamily="49" charset="0"/>
              </a:rPr>
              <a:t> switch </a:t>
            </a:r>
            <a:r>
              <a:rPr lang="en-AU" dirty="0"/>
              <a:t>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29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switch(test expression)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dirty="0">
                <a:latin typeface="Courier New" pitchFamily="49" charset="0"/>
                <a:cs typeface="Courier New" pitchFamily="49" charset="0"/>
              </a:rPr>
              <a:t>case 1: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i="1" dirty="0">
                <a:latin typeface="Courier New" pitchFamily="49" charset="0"/>
                <a:cs typeface="Courier New" pitchFamily="49" charset="0"/>
              </a:rPr>
              <a:t>  	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execute code block 1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dirty="0">
                <a:latin typeface="Courier New" pitchFamily="49" charset="0"/>
                <a:cs typeface="Courier New" pitchFamily="49" charset="0"/>
              </a:rPr>
              <a:t>  	break;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dirty="0">
                <a:latin typeface="Courier New" pitchFamily="49" charset="0"/>
                <a:cs typeface="Courier New" pitchFamily="49" charset="0"/>
              </a:rPr>
              <a:t>case 2: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i="1" dirty="0">
                <a:latin typeface="Courier New" pitchFamily="49" charset="0"/>
                <a:cs typeface="Courier New" pitchFamily="49" charset="0"/>
              </a:rPr>
              <a:t>  	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execute code block 2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dirty="0">
                <a:latin typeface="Courier New" pitchFamily="49" charset="0"/>
                <a:cs typeface="Courier New" pitchFamily="49" charset="0"/>
              </a:rPr>
              <a:t>  	break;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dirty="0">
                <a:latin typeface="Courier New" pitchFamily="49" charset="0"/>
                <a:cs typeface="Courier New" pitchFamily="49" charset="0"/>
              </a:rPr>
              <a:t>	.</a:t>
            </a:r>
          </a:p>
          <a:p>
            <a:pPr marL="0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...all other cases and code to be executed</a:t>
            </a:r>
          </a:p>
          <a:p>
            <a:pPr marL="0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.</a:t>
            </a:r>
          </a:p>
          <a:p>
            <a:pPr marL="0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case n: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i="1" dirty="0">
                <a:latin typeface="Courier New" pitchFamily="49" charset="0"/>
                <a:cs typeface="Courier New" pitchFamily="49" charset="0"/>
              </a:rPr>
              <a:t>  	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execute code block n</a:t>
            </a:r>
          </a:p>
          <a:p>
            <a:pPr marL="0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break;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dirty="0">
                <a:latin typeface="Courier New" pitchFamily="49" charset="0"/>
                <a:cs typeface="Courier New" pitchFamily="49" charset="0"/>
              </a:rPr>
              <a:t>default:</a:t>
            </a:r>
          </a:p>
          <a:p>
            <a:pPr marL="0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code to be executed is nothing matches the test condition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6573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868362"/>
          </a:xfrm>
        </p:spPr>
        <p:txBody>
          <a:bodyPr>
            <a:normAutofit/>
          </a:bodyPr>
          <a:lstStyle/>
          <a:p>
            <a:r>
              <a:rPr lang="en-US" sz="2800" dirty="0"/>
              <a:t>Example: A Rating System Using t</a:t>
            </a:r>
            <a:r>
              <a:rPr lang="en-AU" sz="2800" dirty="0"/>
              <a:t>he</a:t>
            </a:r>
            <a:r>
              <a:rPr lang="en-AU" sz="2800" dirty="0">
                <a:latin typeface="Courier New" pitchFamily="49" charset="0"/>
                <a:cs typeface="Courier New" pitchFamily="49" charset="0"/>
              </a:rPr>
              <a:t> switch </a:t>
            </a:r>
            <a:r>
              <a:rPr lang="en-AU" sz="2800" dirty="0"/>
              <a:t>Structure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05400"/>
          </a:xfrm>
        </p:spPr>
        <p:txBody>
          <a:bodyPr numCol="2">
            <a:noAutofit/>
          </a:bodyPr>
          <a:lstStyle/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let day =prompt("Enter number(“1 = Monday,7= Sunday):");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switch (day) {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case 1: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console.log("Monday is a Weekday.");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break;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case 2: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console.log("Tuesday is a Weekday.");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break;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case 3: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console.log("Wednesday is a Weekday.");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break;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case 4: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console.log("Thursday is a Weekday."); break;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case 5: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console.log("Friday is a    	Weekday.");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break;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case 6: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console.log("Saturday is a 	Weekend.");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break;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case 7: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console.log("Sunday is a 	Weekend.");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break;</a:t>
            </a:r>
          </a:p>
          <a:p>
            <a:pPr marL="0" indent="0" hangingPunct="0"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default: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console.log("Invalid number! 	Please enter 1–7.");</a:t>
            </a:r>
          </a:p>
          <a:p>
            <a:pPr marL="0" indent="0" hangingPunc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}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C77AD9-5FED-3E8A-6133-4A06A680972D}"/>
              </a:ext>
            </a:extLst>
          </p:cNvPr>
          <p:cNvCxnSpPr>
            <a:stCxn id="3" idx="0"/>
          </p:cNvCxnSpPr>
          <p:nvPr/>
        </p:nvCxnSpPr>
        <p:spPr>
          <a:xfrm>
            <a:off x="4572000" y="1066800"/>
            <a:ext cx="0" cy="5486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175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en-US" sz="4000" dirty="0"/>
              <a:t>Notes re: t</a:t>
            </a:r>
            <a:r>
              <a:rPr lang="en-AU" sz="4000" dirty="0"/>
              <a:t>he</a:t>
            </a:r>
            <a:r>
              <a:rPr lang="en-AU" sz="4000" dirty="0">
                <a:latin typeface="Courier New" pitchFamily="49" charset="0"/>
                <a:cs typeface="Courier New" pitchFamily="49" charset="0"/>
              </a:rPr>
              <a:t> switch </a:t>
            </a:r>
            <a:r>
              <a:rPr lang="en-AU" sz="4000" dirty="0"/>
              <a:t>Structure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AU" sz="2200" dirty="0"/>
              <a:t>Without the </a:t>
            </a:r>
            <a:r>
              <a:rPr lang="en-AU" sz="2200" dirty="0">
                <a:latin typeface="Courier New" pitchFamily="49" charset="0"/>
                <a:cs typeface="Courier New" pitchFamily="49" charset="0"/>
              </a:rPr>
              <a:t>break</a:t>
            </a:r>
            <a:r>
              <a:rPr lang="en-AU" sz="2200" dirty="0"/>
              <a:t> statement, all following </a:t>
            </a:r>
            <a:r>
              <a:rPr lang="en-AU" sz="2200" dirty="0">
                <a:latin typeface="Courier New" pitchFamily="49" charset="0"/>
                <a:cs typeface="Courier New" pitchFamily="49" charset="0"/>
              </a:rPr>
              <a:t>cases</a:t>
            </a:r>
            <a:r>
              <a:rPr lang="en-AU" sz="2200" dirty="0"/>
              <a:t> will execute!</a:t>
            </a:r>
          </a:p>
          <a:p>
            <a:pPr marL="0" indent="0" hangingPunct="0">
              <a:buNone/>
            </a:pP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AU" sz="16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AU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=prompt(“Enter 1 for red, 2 for</a:t>
            </a:r>
            <a:endParaRPr lang="en-AU" sz="1600" dirty="0">
              <a:latin typeface="Courier New" pitchFamily="49" charset="0"/>
              <a:cs typeface="Courier New" pitchFamily="49" charset="0"/>
              <a:sym typeface="Wingdings 3"/>
            </a:endParaRPr>
          </a:p>
          <a:p>
            <a:pPr marL="0" indent="0" hangingPunct="0">
              <a:buNone/>
            </a:pPr>
            <a:r>
              <a:rPr lang="en-AU" sz="1600" dirty="0">
                <a:latin typeface="Courier New" pitchFamily="49" charset="0"/>
                <a:cs typeface="Courier New" pitchFamily="49" charset="0"/>
              </a:rPr>
              <a:t>                              blue, 3 for yellow"," ");</a:t>
            </a:r>
          </a:p>
          <a:p>
            <a:pPr marL="0" indent="0" hangingPunct="0">
              <a:buNone/>
            </a:pPr>
            <a:r>
              <a:rPr lang="en-AU" sz="1600" dirty="0">
                <a:latin typeface="Courier New" pitchFamily="49" charset="0"/>
                <a:cs typeface="Courier New" pitchFamily="49" charset="0"/>
              </a:rPr>
              <a:t>	switch (</a:t>
            </a:r>
            <a:r>
              <a:rPr lang="en-AU" sz="16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)</a:t>
            </a: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{</a:t>
            </a: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case 1:</a:t>
            </a: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	console.log(“ the </a:t>
            </a:r>
            <a:r>
              <a:rPr lang="en-AU" sz="1600" dirty="0" err="1">
                <a:latin typeface="Courier New" pitchFamily="49" charset="0"/>
                <a:cs typeface="Courier New" pitchFamily="49" charset="0"/>
              </a:rPr>
              <a:t>color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is red”);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sz="1600" dirty="0">
                <a:latin typeface="Courier New" pitchFamily="49" charset="0"/>
                <a:cs typeface="Courier New" pitchFamily="49" charset="0"/>
              </a:rPr>
              <a:t>	case 2:</a:t>
            </a: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	console.log(“ the </a:t>
            </a:r>
            <a:r>
              <a:rPr lang="en-AU" sz="1600" dirty="0" err="1">
                <a:latin typeface="Courier New" pitchFamily="49" charset="0"/>
                <a:cs typeface="Courier New" pitchFamily="49" charset="0"/>
              </a:rPr>
              <a:t>color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is blue”);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sz="1600" dirty="0">
                <a:latin typeface="Courier New" pitchFamily="49" charset="0"/>
                <a:cs typeface="Courier New" pitchFamily="49" charset="0"/>
              </a:rPr>
              <a:t>	case 3:</a:t>
            </a:r>
            <a:br>
              <a:rPr lang="en-AU" sz="1600" dirty="0">
                <a:latin typeface="Courier New" pitchFamily="49" charset="0"/>
                <a:cs typeface="Courier New" pitchFamily="49" charset="0"/>
              </a:rPr>
            </a:br>
            <a:r>
              <a:rPr lang="en-AU" sz="1600" dirty="0">
                <a:latin typeface="Courier New" pitchFamily="49" charset="0"/>
                <a:cs typeface="Courier New" pitchFamily="49" charset="0"/>
              </a:rPr>
              <a:t>		console.log(“ the </a:t>
            </a:r>
            <a:r>
              <a:rPr lang="en-AU" sz="1600" dirty="0" err="1">
                <a:latin typeface="Courier New" pitchFamily="49" charset="0"/>
                <a:cs typeface="Courier New" pitchFamily="49" charset="0"/>
              </a:rPr>
              <a:t>color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 is green”);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default:</a:t>
            </a:r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AU" sz="1600" dirty="0">
                <a:latin typeface="Courier New" pitchFamily="49" charset="0"/>
                <a:cs typeface="Courier New" pitchFamily="49" charset="0"/>
              </a:rPr>
              <a:t>console.log(“ invalid entry ”);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4774716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en-AU" dirty="0"/>
              <a:t>Entering a 1 will result in:</a:t>
            </a:r>
          </a:p>
          <a:p>
            <a:pPr marL="0" indent="0" hangingPunct="0">
              <a:buNone/>
            </a:pPr>
            <a:r>
              <a:rPr lang="en-AU" sz="1800" dirty="0">
                <a:latin typeface="Courier New" pitchFamily="49" charset="0"/>
                <a:cs typeface="Courier New" pitchFamily="49" charset="0"/>
              </a:rPr>
              <a:t>You like red.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sz="1800" dirty="0">
                <a:latin typeface="Courier New" pitchFamily="49" charset="0"/>
                <a:cs typeface="Courier New" pitchFamily="49" charset="0"/>
              </a:rPr>
              <a:t>You like blue.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sz="1800" dirty="0">
                <a:latin typeface="Courier New" pitchFamily="49" charset="0"/>
                <a:cs typeface="Courier New" pitchFamily="49" charset="0"/>
              </a:rPr>
              <a:t>You like yellow.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dirty="0">
                <a:latin typeface="Courier New" pitchFamily="49" charset="0"/>
                <a:cs typeface="Courier New" pitchFamily="49" charset="0"/>
              </a:rPr>
              <a:t>Invalid entry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dirty="0"/>
              <a:t>Entering a 2 will result in:</a:t>
            </a:r>
          </a:p>
          <a:p>
            <a:pPr marL="0" indent="0" hangingPunct="0">
              <a:buNone/>
            </a:pPr>
            <a:r>
              <a:rPr lang="en-AU" sz="1800" dirty="0">
                <a:latin typeface="Courier New" pitchFamily="49" charset="0"/>
                <a:cs typeface="Courier New" pitchFamily="49" charset="0"/>
              </a:rPr>
              <a:t>You like blue.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sz="1800" dirty="0">
                <a:latin typeface="Courier New" pitchFamily="49" charset="0"/>
                <a:cs typeface="Courier New" pitchFamily="49" charset="0"/>
              </a:rPr>
              <a:t>You like yellow.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dirty="0">
                <a:latin typeface="Courier New" pitchFamily="49" charset="0"/>
                <a:cs typeface="Courier New" pitchFamily="49" charset="0"/>
              </a:rPr>
              <a:t>Invalid entry</a:t>
            </a:r>
          </a:p>
          <a:p>
            <a:pPr marL="0" indent="0" hangingPunct="0"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endParaRPr lang="en-AU" sz="1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hangingPunct="0">
              <a:buNone/>
            </a:pPr>
            <a:r>
              <a:rPr lang="en-AU" dirty="0"/>
              <a:t>Entering a 3 will result in:</a:t>
            </a:r>
          </a:p>
          <a:p>
            <a:pPr marL="0" indent="0" hangingPunct="0">
              <a:buNone/>
            </a:pPr>
            <a:r>
              <a:rPr lang="en-AU" sz="1800" dirty="0">
                <a:latin typeface="Courier New" pitchFamily="49" charset="0"/>
                <a:cs typeface="Courier New" pitchFamily="49" charset="0"/>
              </a:rPr>
              <a:t>You like yellow.</a:t>
            </a:r>
            <a:br>
              <a:rPr lang="en-US" sz="1800" dirty="0">
                <a:latin typeface="Courier New" pitchFamily="49" charset="0"/>
                <a:cs typeface="Courier New" pitchFamily="49" charset="0"/>
              </a:rPr>
            </a:br>
            <a:r>
              <a:rPr lang="en-US" sz="1800" dirty="0">
                <a:latin typeface="Courier New" pitchFamily="49" charset="0"/>
                <a:cs typeface="Courier New" pitchFamily="49" charset="0"/>
              </a:rPr>
              <a:t>Invalid entry</a:t>
            </a:r>
            <a:endParaRPr lang="en-AU" sz="1800" dirty="0"/>
          </a:p>
          <a:p>
            <a:pPr marL="0" indent="0" hangingPunct="0">
              <a:buNone/>
            </a:pPr>
            <a:endParaRPr lang="en-AU" sz="1800" dirty="0"/>
          </a:p>
          <a:p>
            <a:pPr marL="0" indent="0" hangingPunct="0">
              <a:buNone/>
            </a:pPr>
            <a:r>
              <a:rPr lang="en-AU" dirty="0"/>
              <a:t>Entering anything else will result in:</a:t>
            </a:r>
          </a:p>
          <a:p>
            <a:pPr marL="0" indent="0" hangingPunc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Invalid entry</a:t>
            </a:r>
            <a:endParaRPr lang="en-AU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589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1863</TotalTime>
  <Words>1944</Words>
  <Application>Microsoft Office PowerPoint</Application>
  <PresentationFormat>On-screen Show (4:3)</PresentationFormat>
  <Paragraphs>267</Paragraphs>
  <Slides>30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Arial Rounded MT Bold</vt:lpstr>
      <vt:lpstr>Calibri</vt:lpstr>
      <vt:lpstr>Calibri (Body)</vt:lpstr>
      <vt:lpstr>Courier New</vt:lpstr>
      <vt:lpstr>Times New Roman</vt:lpstr>
      <vt:lpstr>Office Theme</vt:lpstr>
      <vt:lpstr>Making Decisions: the Selection Structure </vt:lpstr>
      <vt:lpstr>Template literals/Template strings</vt:lpstr>
      <vt:lpstr>Syntax of Template Literals:</vt:lpstr>
      <vt:lpstr>Variable Swapping</vt:lpstr>
      <vt:lpstr>Using a Temporary Variable</vt:lpstr>
      <vt:lpstr>Using Arithmetic Operations</vt:lpstr>
      <vt:lpstr>PowerPoint Presentation</vt:lpstr>
      <vt:lpstr>Conditional Statements</vt:lpstr>
      <vt:lpstr>Single-alternative structures</vt:lpstr>
      <vt:lpstr>General Format</vt:lpstr>
      <vt:lpstr>Example: Is it snowing?</vt:lpstr>
      <vt:lpstr>Dual-alternative structures</vt:lpstr>
      <vt:lpstr>General Format</vt:lpstr>
      <vt:lpstr>Example: Is it snowing?</vt:lpstr>
      <vt:lpstr>Multiple-alternative structures</vt:lpstr>
      <vt:lpstr>General Format</vt:lpstr>
      <vt:lpstr>Example: Is it snowing?</vt:lpstr>
      <vt:lpstr>PowerPoint Presentation</vt:lpstr>
      <vt:lpstr>Logical Operators (revisited)</vt:lpstr>
      <vt:lpstr>Syntax for Writing Compound Conditions</vt:lpstr>
      <vt:lpstr>Using AND and OR</vt:lpstr>
      <vt:lpstr>Calculating overtime pay with the AND operator</vt:lpstr>
      <vt:lpstr>Calculating overtime pay with the OR operator</vt:lpstr>
      <vt:lpstr>PowerPoint Presentation</vt:lpstr>
      <vt:lpstr>General Format:  The if...else if... Structure</vt:lpstr>
      <vt:lpstr>Example: A Rating System Using  the if...else if... Structure</vt:lpstr>
      <vt:lpstr>General Format:  The switch Structure</vt:lpstr>
      <vt:lpstr>Example: A Rating System Using the switch Structure</vt:lpstr>
      <vt:lpstr>Notes re: the switch Structure</vt:lpstr>
      <vt:lpstr>Results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JavaScript Programming With XML and PHP Creating Interactive Web Pages</dc:title>
  <dc:creator>Duck</dc:creator>
  <cp:lastModifiedBy>abdirahman suldanka</cp:lastModifiedBy>
  <cp:revision>118</cp:revision>
  <dcterms:created xsi:type="dcterms:W3CDTF">2012-09-01T17:35:17Z</dcterms:created>
  <dcterms:modified xsi:type="dcterms:W3CDTF">2025-09-25T10:11:02Z</dcterms:modified>
</cp:coreProperties>
</file>