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1" r:id="rId2"/>
    <p:sldId id="310" r:id="rId3"/>
    <p:sldId id="363" r:id="rId4"/>
    <p:sldId id="364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EB8085-66B2-4ADB-9D1C-A0E437A1FEFB}">
          <p14:sldIdLst>
            <p14:sldId id="281"/>
            <p14:sldId id="310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26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D22F8-8AAC-4B6B-90DF-11F6E5C205A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05D1-5258-4DB4-B7D5-880DB47CF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3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7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7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9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9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5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8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7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3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5CC6-48DE-4ABD-9B30-452AA1BD9ED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7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352800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Functions in JavaScript</a:t>
            </a:r>
            <a:endParaRPr lang="en-US" sz="4000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8382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23695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Functions in JavaScript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7924800" cy="4906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function</a:t>
            </a:r>
            <a:r>
              <a:rPr lang="en-US" dirty="0"/>
              <a:t> in JavaScript is a </a:t>
            </a:r>
            <a:r>
              <a:rPr lang="en-US" b="1" dirty="0">
                <a:solidFill>
                  <a:srgbClr val="0070C0"/>
                </a:solidFill>
              </a:rPr>
              <a:t>block of reusable code</a:t>
            </a:r>
            <a:r>
              <a:rPr lang="en-US" dirty="0"/>
              <a:t> that performs a specific task. It allows you to </a:t>
            </a:r>
            <a:r>
              <a:rPr lang="en-US" b="1" dirty="0">
                <a:solidFill>
                  <a:srgbClr val="0070C0"/>
                </a:solidFill>
              </a:rPr>
              <a:t>write code once and use it many times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— which makes programs more organized and efficient.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Important of functions: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Code reusability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Code organization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Avoid repetition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Easy maintenance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Return and reuse of values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6374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915641-3991-95C3-F1CF-320EBF46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Function Definition and Function Calling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F30AF8-A750-9F8A-E38E-1FA28CB6A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 eaLnBrk="0" fontAlgn="base" hangingPunc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Function definition: </a:t>
            </a:r>
            <a:r>
              <a:rPr lang="en-US" dirty="0"/>
              <a:t>is the process of creating a function. It specifies the name of the function, any parameters it accepts, and the code block that runs</a:t>
            </a:r>
          </a:p>
          <a:p>
            <a:pPr marL="400050" lvl="1" indent="0" eaLnBrk="0" fontAlgn="base" hangingPunct="0">
              <a:buNone/>
            </a:pPr>
            <a:endParaRPr lang="en-US" dirty="0"/>
          </a:p>
          <a:p>
            <a:pPr marL="400050" lvl="1" indent="0" eaLnBrk="0" fontAlgn="base" hangingPunc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Function calling: </a:t>
            </a:r>
            <a:r>
              <a:rPr lang="en-US" dirty="0"/>
              <a:t>is the process of executing a function that has been defined. To call a function, you simply use its name followed by parentheses.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6BEE-3DDF-015D-4E19-258660FB0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2F2E8A-FEC6-9BEE-55EC-737E7EFEE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17638"/>
            <a:ext cx="8686800" cy="4708525"/>
          </a:xfrm>
        </p:spPr>
      </p:pic>
    </p:spTree>
    <p:extLst>
      <p:ext uri="{BB962C8B-B14F-4D97-AF65-F5344CB8AC3E}">
        <p14:creationId xmlns:p14="http://schemas.microsoft.com/office/powerpoint/2010/main" val="44376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FF70-5423-6C21-EACC-ACF9DA9F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Types of Functions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7D055-7B0C-B480-416C-E15F0062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JavaScript, functions can be categorized into two.</a:t>
            </a:r>
          </a:p>
          <a:p>
            <a:r>
              <a:rPr lang="en-US" b="1" dirty="0">
                <a:solidFill>
                  <a:srgbClr val="0070C0"/>
                </a:solidFill>
              </a:rPr>
              <a:t>Void Functions:</a:t>
            </a:r>
          </a:p>
          <a:p>
            <a:pPr lvl="1"/>
            <a:r>
              <a:rPr lang="en-US" dirty="0"/>
              <a:t>These functions </a:t>
            </a:r>
            <a:r>
              <a:rPr lang="en-US" b="1" dirty="0">
                <a:solidFill>
                  <a:srgbClr val="0070C0"/>
                </a:solidFill>
              </a:rPr>
              <a:t>do not return any value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perform a task like printing a message or updating something.</a:t>
            </a:r>
          </a:p>
          <a:p>
            <a:r>
              <a:rPr lang="en-US" b="1" dirty="0">
                <a:solidFill>
                  <a:srgbClr val="0070C0"/>
                </a:solidFill>
              </a:rPr>
              <a:t>Value-Returning Functions:</a:t>
            </a:r>
          </a:p>
          <a:p>
            <a:pPr lvl="1" eaLnBrk="0" fontAlgn="base" hangingPunct="0"/>
            <a:r>
              <a:rPr lang="en-US" dirty="0"/>
              <a:t>These functions </a:t>
            </a:r>
            <a:r>
              <a:rPr lang="en-US" b="1" dirty="0">
                <a:solidFill>
                  <a:srgbClr val="0070C0"/>
                </a:solidFill>
              </a:rPr>
              <a:t>return a value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using the </a:t>
            </a:r>
            <a:r>
              <a:rPr lang="en-US" b="1" dirty="0">
                <a:solidFill>
                  <a:srgbClr val="0070C0"/>
                </a:solidFill>
              </a:rPr>
              <a:t>return keyword.</a:t>
            </a:r>
            <a:endParaRPr lang="en-US" dirty="0">
              <a:solidFill>
                <a:srgbClr val="0070C0"/>
              </a:solidFill>
            </a:endParaRPr>
          </a:p>
          <a:p>
            <a:pPr lvl="1" eaLnBrk="0" fontAlgn="base" hangingPunct="0"/>
            <a:r>
              <a:rPr lang="en-US" dirty="0"/>
              <a:t>You can store the returned value in a variable or use it in expressions.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96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EA78-1E36-43F4-0FB4-904D8358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Void Function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E98A71-43EF-71AB-A56B-B9127AECF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748631"/>
            <a:ext cx="7810500" cy="4229100"/>
          </a:xfrm>
        </p:spPr>
      </p:pic>
    </p:spTree>
    <p:extLst>
      <p:ext uri="{BB962C8B-B14F-4D97-AF65-F5344CB8AC3E}">
        <p14:creationId xmlns:p14="http://schemas.microsoft.com/office/powerpoint/2010/main" val="326078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90D1-F610-636D-1264-3E350BDA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Returning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F6B972-8F95-97E2-7357-0E128AF80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8229600" cy="4830761"/>
          </a:xfrm>
        </p:spPr>
      </p:pic>
    </p:spTree>
    <p:extLst>
      <p:ext uri="{BB962C8B-B14F-4D97-AF65-F5344CB8AC3E}">
        <p14:creationId xmlns:p14="http://schemas.microsoft.com/office/powerpoint/2010/main" val="3136397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3B55-81F2-EC67-F1EF-0B67CB3A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Parameter and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BCFD-80C0-68E4-CA41-8F2F0C64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Functions in JavaScript often require input to perform tasks on different data. This input is provided through </a:t>
            </a:r>
            <a:r>
              <a:rPr lang="en-US" b="1" dirty="0">
                <a:solidFill>
                  <a:srgbClr val="0070C0"/>
                </a:solidFill>
              </a:rPr>
              <a:t>parameters</a:t>
            </a:r>
            <a:r>
              <a:rPr lang="en-US" dirty="0"/>
              <a:t> and </a:t>
            </a:r>
            <a:r>
              <a:rPr lang="en-US" b="1" dirty="0">
                <a:solidFill>
                  <a:srgbClr val="0070C0"/>
                </a:solidFill>
              </a:rPr>
              <a:t>arguments</a:t>
            </a:r>
            <a:r>
              <a:rPr lang="en-US" dirty="0"/>
              <a:t>.</a:t>
            </a:r>
          </a:p>
          <a:p>
            <a:r>
              <a:rPr lang="en-US" b="1" dirty="0"/>
              <a:t>Parameters:</a:t>
            </a:r>
          </a:p>
          <a:p>
            <a:pPr lvl="1"/>
            <a:r>
              <a:rPr lang="en-US" dirty="0"/>
              <a:t>Parameters are </a:t>
            </a:r>
            <a:r>
              <a:rPr lang="en-US" b="1" dirty="0">
                <a:solidFill>
                  <a:srgbClr val="0070C0"/>
                </a:solidFill>
              </a:rPr>
              <a:t>placeholders defined in a function</a:t>
            </a:r>
            <a:r>
              <a:rPr lang="en-US" dirty="0"/>
              <a:t>. They specify the values that the function expects when it is called.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Parameters are optional</a:t>
            </a:r>
            <a:r>
              <a:rPr lang="en-US" dirty="0"/>
              <a:t>: functions can be declared without parameter.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Parameters can be multiple</a:t>
            </a:r>
            <a:r>
              <a:rPr lang="en-US" b="1" dirty="0"/>
              <a:t>: </a:t>
            </a:r>
            <a:r>
              <a:rPr lang="en-US" dirty="0"/>
              <a:t>functions can use </a:t>
            </a:r>
            <a:r>
              <a:rPr lang="en-US" b="1" dirty="0">
                <a:solidFill>
                  <a:srgbClr val="0070C0"/>
                </a:solidFill>
              </a:rPr>
              <a:t>more than 1 parameter.</a:t>
            </a:r>
          </a:p>
          <a:p>
            <a:r>
              <a:rPr lang="en-US" b="1" dirty="0"/>
              <a:t>Example:</a:t>
            </a:r>
          </a:p>
          <a:p>
            <a:pPr marL="457200" lvl="1" indent="0">
              <a:buNone/>
            </a:pPr>
            <a:r>
              <a:rPr lang="en-US" sz="29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function greet(name) {  // 'name' is a parameter</a:t>
            </a:r>
          </a:p>
          <a:p>
            <a:pPr marL="457200" lvl="1" indent="0">
              <a:buNone/>
            </a:pPr>
            <a:r>
              <a:rPr lang="en-US" sz="29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console.log("Hello, " + name + "!");</a:t>
            </a:r>
          </a:p>
          <a:p>
            <a:pPr marL="457200" lvl="1" indent="0">
              <a:buNone/>
            </a:pPr>
            <a:r>
              <a:rPr lang="en-US" sz="29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3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3BB72-C765-BF37-B241-41DF5F6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Parameter and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22490-310A-BBC5-CF3B-AE18B1DC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Arguments</a:t>
            </a:r>
            <a:r>
              <a:rPr lang="en-US" sz="2800" b="1" dirty="0"/>
              <a:t> </a:t>
            </a:r>
            <a:r>
              <a:rPr lang="en-US" sz="2800" dirty="0"/>
              <a:t>are the </a:t>
            </a:r>
            <a:r>
              <a:rPr lang="en-US" sz="2800" b="1" dirty="0">
                <a:solidFill>
                  <a:srgbClr val="0070C0"/>
                </a:solidFill>
              </a:rPr>
              <a:t>actual values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passed to a function when it is called. They correspond to the function’s parameters and provide the data the function will work with.</a:t>
            </a:r>
          </a:p>
          <a:p>
            <a:r>
              <a:rPr lang="en-US" sz="2800" dirty="0"/>
              <a:t>Example:</a:t>
            </a:r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95EDB-2345-FA23-9EAB-350DC19A8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18" y="3917950"/>
            <a:ext cx="7869382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0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9B3F-7EE3-BC95-4452-E5B3336E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Default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9870-B687-92CB-CC4B-E7B55FCE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1" dirty="0">
                <a:solidFill>
                  <a:srgbClr val="0070C0"/>
                </a:solidFill>
              </a:rPr>
              <a:t>Default parameters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allow a function to have a </a:t>
            </a:r>
            <a:r>
              <a:rPr lang="en-US" sz="2400" b="1" dirty="0">
                <a:solidFill>
                  <a:srgbClr val="0070C0"/>
                </a:solidFill>
              </a:rPr>
              <a:t>predefined value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for a parameter if no argument is provided when the function is called. This makes functions </a:t>
            </a:r>
            <a:r>
              <a:rPr lang="en-US" sz="2400" b="1" dirty="0">
                <a:solidFill>
                  <a:srgbClr val="0070C0"/>
                </a:solidFill>
              </a:rPr>
              <a:t>more flexible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and prevents undefined </a:t>
            </a:r>
            <a:r>
              <a:rPr lang="en-US" sz="2800" dirty="0"/>
              <a:t>values.</a:t>
            </a:r>
          </a:p>
          <a:p>
            <a:pPr algn="just"/>
            <a:r>
              <a:rPr lang="en-US" sz="2800" dirty="0"/>
              <a:t>Example:</a:t>
            </a:r>
          </a:p>
          <a:p>
            <a:pPr algn="just"/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477C0-02F2-BFB0-3EB0-B2E2A75CD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716193"/>
            <a:ext cx="7620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8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3074-C776-1D68-F6ED-64D19D21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Function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43ED-5F22-3A90-D2B5-9FB7415A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eaLnBrk="0" fontAlgn="base" hangingPunct="0">
              <a:buNone/>
            </a:pPr>
            <a:r>
              <a:rPr lang="en-US" dirty="0"/>
              <a:t>JavaScript provides multiple ways to define functions beyond the traditional function declaration. </a:t>
            </a:r>
          </a:p>
          <a:p>
            <a:pPr eaLnBrk="0" fontAlgn="base" hangingPunct="0"/>
            <a:r>
              <a:rPr lang="en-US" dirty="0"/>
              <a:t>Two important types are </a:t>
            </a:r>
            <a:r>
              <a:rPr lang="en-US" b="1" dirty="0">
                <a:solidFill>
                  <a:srgbClr val="0070C0"/>
                </a:solidFill>
              </a:rPr>
              <a:t>function expressions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arrow functions.</a:t>
            </a:r>
            <a:endParaRPr lang="en-US" dirty="0">
              <a:solidFill>
                <a:srgbClr val="0070C0"/>
              </a:solidFill>
            </a:endParaRPr>
          </a:p>
          <a:p>
            <a:pPr eaLnBrk="0" fontAlgn="base" hangingPunct="0"/>
            <a:r>
              <a:rPr lang="en-US" b="1" dirty="0"/>
              <a:t>A </a:t>
            </a:r>
            <a:r>
              <a:rPr lang="en-US" b="1" dirty="0">
                <a:solidFill>
                  <a:srgbClr val="0070C0"/>
                </a:solidFill>
              </a:rPr>
              <a:t>function expression </a:t>
            </a:r>
            <a:r>
              <a:rPr lang="en-US" dirty="0"/>
              <a:t>defines a function and assigns it to a variable.</a:t>
            </a:r>
          </a:p>
          <a:p>
            <a:pPr eaLnBrk="0" fontAlgn="base" hangingPunct="0"/>
            <a:r>
              <a:rPr lang="en-US" dirty="0"/>
              <a:t>Can be </a:t>
            </a:r>
            <a:r>
              <a:rPr lang="en-US" b="1" dirty="0">
                <a:solidFill>
                  <a:srgbClr val="0070C0"/>
                </a:solidFill>
              </a:rPr>
              <a:t>anonymous</a:t>
            </a:r>
            <a:r>
              <a:rPr lang="en-US" dirty="0"/>
              <a:t> (without a name) or named.</a:t>
            </a:r>
          </a:p>
          <a:p>
            <a:pPr eaLnBrk="0" fontAlgn="base" hangingPunct="0"/>
            <a:r>
              <a:rPr lang="en-US" dirty="0"/>
              <a:t>The function is </a:t>
            </a:r>
            <a:r>
              <a:rPr lang="en-US" b="1" dirty="0">
                <a:solidFill>
                  <a:srgbClr val="0070C0"/>
                </a:solidFill>
              </a:rPr>
              <a:t>stored in a variable</a:t>
            </a:r>
            <a:r>
              <a:rPr lang="en-US" dirty="0"/>
              <a:t>, so it can be passed around like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450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5D30-8AEE-FF55-3D01-ECBEDBD2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Syntax (anonymous function expression)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69CAF-68A4-283B-B005-6EF3A0A5A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96472"/>
            <a:ext cx="8229600" cy="4133419"/>
          </a:xfrm>
        </p:spPr>
      </p:pic>
    </p:spTree>
    <p:extLst>
      <p:ext uri="{BB962C8B-B14F-4D97-AF65-F5344CB8AC3E}">
        <p14:creationId xmlns:p14="http://schemas.microsoft.com/office/powerpoint/2010/main" val="1906988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501699-4E74-AC8A-04EF-BE347782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3276600"/>
            <a:ext cx="8420100" cy="3486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167DED-7747-E441-BCE5-6A370436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Arrow functions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B2D06-A2DC-0143-6342-053D27443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shorter syntax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writing function expressions.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</a:t>
            </a:r>
            <a:r>
              <a:rPr lang="en-US" alt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=&gt; </a:t>
            </a:r>
            <a:r>
              <a:rPr lang="en-US" altLang="en-US" sz="2400" dirty="0">
                <a:latin typeface="Arial" panose="020B0604020202020204" pitchFamily="34" charset="0"/>
              </a:rPr>
              <a:t>syntax.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70C0"/>
                </a:solidFill>
              </a:rPr>
              <a:t>Parentheses () </a:t>
            </a:r>
            <a:r>
              <a:rPr lang="en-US" sz="2400" dirty="0"/>
              <a:t>can be omitted if there’s only one parameter.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24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C8DB-B454-B6C0-E680-7248195B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Arrow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FCD1-D74B-75FF-754D-43E03D434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Single-parameter: 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Parentheses can be omitted if there’s only one parameter.</a:t>
            </a:r>
          </a:p>
          <a:p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Single-expression:</a:t>
            </a:r>
            <a:r>
              <a:rPr lang="en-US" sz="2800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 functions that return a value directly, braces and return can be omitted.</a:t>
            </a:r>
            <a:endParaRPr lang="en-US" sz="2800" dirty="0">
              <a:effectLst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FD3F1-9A10-A8BD-48A3-E5ECBF568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657600"/>
            <a:ext cx="8549640" cy="188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27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98DB-A985-DB5D-5902-8AEAB721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3CA78-18FA-098A-32DB-4E7A7F2A8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Variable scope 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 JavaScript refers to the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visibility and accessibility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of variables within different parts of your code.</a:t>
            </a:r>
            <a:endParaRPr lang="en-US" sz="2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Importance:</a:t>
            </a:r>
            <a:endParaRPr lang="en-US" sz="4400" dirty="0">
              <a:solidFill>
                <a:srgbClr val="0070C0"/>
              </a:solidFill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Controls where variables can be used.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Prevents naming conflicts.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Manages variable lifetime.</a:t>
            </a:r>
            <a:endParaRPr lang="en-US" sz="44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Main Types:</a:t>
            </a:r>
            <a:endParaRPr lang="en-US" sz="4400" dirty="0">
              <a:solidFill>
                <a:srgbClr val="0070C0"/>
              </a:solidFill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Global Scope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Local (Function) Scope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Block Scope (ES6 and beyond)</a:t>
            </a:r>
            <a:endParaRPr lang="en-US" sz="44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9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3085-2D35-0F07-0E2F-1D01169D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Global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74DC-4656-67C6-FAA6-1D0D19A04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Variables declared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outside any function or block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are in the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global scope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2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Key Points:</a:t>
            </a:r>
            <a:endParaRPr lang="en-US" sz="44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Accessible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from anywhere</a:t>
            </a:r>
            <a:r>
              <a:rPr lang="en-US" sz="2800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 your program.</a:t>
            </a:r>
            <a:endParaRPr lang="en-US" sz="44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Can be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modified inside functions</a:t>
            </a:r>
            <a:r>
              <a:rPr lang="en-US" sz="2800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4400" dirty="0">
              <a:solidFill>
                <a:srgbClr val="0070C0"/>
              </a:solidFill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Should be used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carefully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avoid conflicts.</a:t>
            </a:r>
            <a:endParaRPr lang="en-US" sz="44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1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118A-E965-C55B-D657-48E82BF9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Global Scope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23F772-5D02-4B09-FB6C-7E822F383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00200"/>
            <a:ext cx="6236228" cy="4682061"/>
          </a:xfrm>
        </p:spPr>
      </p:pic>
    </p:spTree>
    <p:extLst>
      <p:ext uri="{BB962C8B-B14F-4D97-AF65-F5344CB8AC3E}">
        <p14:creationId xmlns:p14="http://schemas.microsoft.com/office/powerpoint/2010/main" val="3295553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9F8C-56C5-EA07-D1A1-FA2A5B61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Local (Function)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9510C-23C0-0C11-4F01-11264B1C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Variables declared 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inside a function</a:t>
            </a:r>
            <a:r>
              <a:rPr lang="en-US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belong to the 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local scope</a:t>
            </a:r>
            <a:r>
              <a:rPr lang="en-US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dirty="0">
              <a:solidFill>
                <a:srgbClr val="0070C0"/>
              </a:solidFill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Key Points:</a:t>
            </a:r>
            <a:endParaRPr lang="en-US" sz="4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Accessible 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only within the function</a:t>
            </a: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4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Each function has its 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own scope</a:t>
            </a: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4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Variables with the 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same name </a:t>
            </a: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 different functions 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do not conflict</a:t>
            </a: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4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Destroyed when the function finishes executing.</a:t>
            </a:r>
            <a:endParaRPr lang="en-US" sz="48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192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86F1-2A9E-1A0B-968C-DE9E4AA7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Local (Function) Scope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08FF4-56E1-0C51-7C44-D0615D82D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76400"/>
            <a:ext cx="6705600" cy="4525963"/>
          </a:xfrm>
        </p:spPr>
      </p:pic>
    </p:spTree>
    <p:extLst>
      <p:ext uri="{BB962C8B-B14F-4D97-AF65-F5344CB8AC3E}">
        <p14:creationId xmlns:p14="http://schemas.microsoft.com/office/powerpoint/2010/main" val="467209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202E-EDC9-BABC-0F4F-AC16410C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Block Scope (ES6 and Beyond)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54E9-48A7-52A5-2818-781E4F8D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declared with </a:t>
            </a:r>
            <a:r>
              <a:rPr lang="en-US" b="1" dirty="0">
                <a:solidFill>
                  <a:srgbClr val="0070C0"/>
                </a:solidFill>
              </a:rPr>
              <a:t>let</a:t>
            </a:r>
            <a:r>
              <a:rPr lang="en-US" dirty="0"/>
              <a:t> or </a:t>
            </a:r>
            <a:r>
              <a:rPr lang="en-US" b="1" dirty="0">
                <a:solidFill>
                  <a:srgbClr val="0070C0"/>
                </a:solidFill>
              </a:rPr>
              <a:t>const</a:t>
            </a:r>
            <a:r>
              <a:rPr lang="en-US" dirty="0"/>
              <a:t> inside </a:t>
            </a:r>
            <a:r>
              <a:rPr lang="en-US" dirty="0">
                <a:solidFill>
                  <a:srgbClr val="0070C0"/>
                </a:solidFill>
              </a:rPr>
              <a:t>{ }</a:t>
            </a:r>
            <a:r>
              <a:rPr lang="en-US" dirty="0"/>
              <a:t> have </a:t>
            </a:r>
            <a:r>
              <a:rPr lang="en-US" b="1" dirty="0">
                <a:solidFill>
                  <a:srgbClr val="0070C0"/>
                </a:solidFill>
              </a:rPr>
              <a:t>block scope</a:t>
            </a:r>
            <a:r>
              <a:rPr lang="en-US" dirty="0"/>
              <a:t>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Scope is limited to </a:t>
            </a:r>
            <a:r>
              <a:rPr lang="en-US" b="1" dirty="0">
                <a:solidFill>
                  <a:srgbClr val="0070C0"/>
                </a:solidFill>
              </a:rPr>
              <a:t>the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block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(e.g., </a:t>
            </a:r>
            <a:r>
              <a:rPr lang="en-US" dirty="0">
                <a:solidFill>
                  <a:srgbClr val="0070C0"/>
                </a:solidFill>
              </a:rPr>
              <a:t>loops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conditionals</a:t>
            </a:r>
            <a:r>
              <a:rPr lang="en-US" dirty="0"/>
              <a:t>).</a:t>
            </a:r>
          </a:p>
          <a:p>
            <a:r>
              <a:rPr lang="en-US" dirty="0"/>
              <a:t>Not accessible </a:t>
            </a:r>
            <a:r>
              <a:rPr lang="en-US" b="1" dirty="0">
                <a:solidFill>
                  <a:srgbClr val="0070C0"/>
                </a:solidFill>
              </a:rPr>
              <a:t>outside</a:t>
            </a:r>
            <a:r>
              <a:rPr lang="en-US" dirty="0"/>
              <a:t> the block.</a:t>
            </a:r>
          </a:p>
          <a:p>
            <a:r>
              <a:rPr lang="en-US" dirty="0"/>
              <a:t>Prevents accidental reuse of variables.</a:t>
            </a:r>
          </a:p>
          <a:p>
            <a:r>
              <a:rPr lang="en-US" b="1" dirty="0">
                <a:solidFill>
                  <a:srgbClr val="0070C0"/>
                </a:solidFill>
              </a:rPr>
              <a:t>VAR</a:t>
            </a:r>
            <a:r>
              <a:rPr lang="en-US" dirty="0"/>
              <a:t> does </a:t>
            </a:r>
            <a:r>
              <a:rPr lang="en-US" b="1" dirty="0">
                <a:solidFill>
                  <a:srgbClr val="0070C0"/>
                </a:solidFill>
              </a:rPr>
              <a:t>not</a:t>
            </a:r>
            <a:r>
              <a:rPr lang="en-US" dirty="0"/>
              <a:t> follow block scope.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63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1F43-2023-4CD3-F09E-2E153F1F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Block Scope (ES6 and Beyond)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00CE3D-2798-E7E1-C7B8-9A6251D37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76400"/>
            <a:ext cx="7162800" cy="4525963"/>
          </a:xfrm>
        </p:spPr>
      </p:pic>
    </p:spTree>
    <p:extLst>
      <p:ext uri="{BB962C8B-B14F-4D97-AF65-F5344CB8AC3E}">
        <p14:creationId xmlns:p14="http://schemas.microsoft.com/office/powerpoint/2010/main" val="1246711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6C81-5C84-BF37-7B83-F638146A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Callback Functions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D77C7-7F90-1FFC-A596-7B7E6F358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callback function</a:t>
            </a:r>
            <a:r>
              <a:rPr lang="en-US" sz="2800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is a function passed as an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argument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another function and executed </a:t>
            </a: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after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the outer function completes a task.</a:t>
            </a:r>
            <a:endParaRPr lang="en-US" sz="2800" dirty="0">
              <a:effectLst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Why Use Callbacks</a:t>
            </a:r>
            <a:r>
              <a:rPr lang="en-US" sz="2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: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Handle asynchronous operations (like loading data).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Control the order of execution.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Reuse and simplify code logic.</a:t>
            </a:r>
            <a:endParaRPr lang="en-US" sz="44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Respond to events such as clicks or timeouts.</a:t>
            </a:r>
            <a:endParaRPr lang="en-US" sz="44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181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33A2-B9E4-9A35-D1C2-188A9777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Callback Functions in JavaScript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CBD84A-1074-6264-A5EA-D316B729A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1600200"/>
            <a:ext cx="7619998" cy="4525963"/>
          </a:xfrm>
        </p:spPr>
      </p:pic>
    </p:spTree>
    <p:extLst>
      <p:ext uri="{BB962C8B-B14F-4D97-AF65-F5344CB8AC3E}">
        <p14:creationId xmlns:p14="http://schemas.microsoft.com/office/powerpoint/2010/main" val="3336193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E4D5-7968-763F-036A-9C1B4AAD5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Anonymous callback function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CDCB-D5D9-0899-BA1E-8A72FECBF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an </a:t>
            </a:r>
            <a:r>
              <a:rPr lang="en-US" sz="2800" b="1" dirty="0"/>
              <a:t>anonymous function</a:t>
            </a:r>
            <a:r>
              <a:rPr lang="en-US" sz="2800" dirty="0"/>
              <a:t> is used as a callback — it has no name and is executed directly.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A7F4D8-1C3F-AB18-4C60-9B2F83859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819400"/>
            <a:ext cx="86296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06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231A-00E7-5303-453E-ABD6FAAE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Callback with </a:t>
            </a:r>
            <a:r>
              <a:rPr lang="en-US" b="1" kern="1200" dirty="0" err="1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setTimeout</a:t>
            </a:r>
            <a:r>
              <a:rPr lang="en-US" b="1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() function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BD6DAA-D60C-D214-2D4A-EEDA4B95D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00200"/>
            <a:ext cx="6858000" cy="4525963"/>
          </a:xfrm>
        </p:spPr>
      </p:pic>
    </p:spTree>
    <p:extLst>
      <p:ext uri="{BB962C8B-B14F-4D97-AF65-F5344CB8AC3E}">
        <p14:creationId xmlns:p14="http://schemas.microsoft.com/office/powerpoint/2010/main" val="381635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5AFE-8B49-C916-7A01-CD8C104F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Callback Hell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DBE9EB-953D-FB00-C747-A73E60FF3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Avoid using </a:t>
            </a:r>
            <a:r>
              <a:rPr lang="en-US" sz="2800" b="1" dirty="0">
                <a:solidFill>
                  <a:srgbClr val="0070C0"/>
                </a:solidFill>
              </a:rPr>
              <a:t>nested callbacks </a:t>
            </a:r>
            <a:r>
              <a:rPr lang="en-US" sz="2800" dirty="0"/>
              <a:t>it is hard to read and maintain.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90916-4CED-D0CC-1AFA-F94BE423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16187"/>
            <a:ext cx="8229600" cy="360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66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5F133F-6351-A8D1-88AD-1880735AA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828801"/>
            <a:ext cx="7772400" cy="2971800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rgbClr val="0070C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5505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2987</TotalTime>
  <Words>825</Words>
  <Application>Microsoft Office PowerPoint</Application>
  <PresentationFormat>On-screen Show (4:3)</PresentationFormat>
  <Paragraphs>104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Rounded MT Bold</vt:lpstr>
      <vt:lpstr>Calibri</vt:lpstr>
      <vt:lpstr>Calibri Light</vt:lpstr>
      <vt:lpstr>Courier New</vt:lpstr>
      <vt:lpstr>Office Theme</vt:lpstr>
      <vt:lpstr>Functions in JavaScript</vt:lpstr>
      <vt:lpstr>Functions in JavaScript </vt:lpstr>
      <vt:lpstr>Function Definition and Function Calling</vt:lpstr>
      <vt:lpstr>Example</vt:lpstr>
      <vt:lpstr>Types of Functions in JavaScript</vt:lpstr>
      <vt:lpstr>Void Function</vt:lpstr>
      <vt:lpstr>Value Returning Function</vt:lpstr>
      <vt:lpstr>Parameter and arguments</vt:lpstr>
      <vt:lpstr>Parameter and arguments</vt:lpstr>
      <vt:lpstr>Default parameters</vt:lpstr>
      <vt:lpstr>Function Expressions</vt:lpstr>
      <vt:lpstr>Syntax (anonymous function expression)</vt:lpstr>
      <vt:lpstr>Arrow functions</vt:lpstr>
      <vt:lpstr>Arrow functions</vt:lpstr>
      <vt:lpstr>Variable Scope</vt:lpstr>
      <vt:lpstr>Global Scope</vt:lpstr>
      <vt:lpstr>Global Scope</vt:lpstr>
      <vt:lpstr>Local (Function) Scope</vt:lpstr>
      <vt:lpstr>Local (Function) Scope</vt:lpstr>
      <vt:lpstr>Block Scope (ES6 and Beyond)</vt:lpstr>
      <vt:lpstr>Block Scope (ES6 and Beyond)</vt:lpstr>
      <vt:lpstr>Callback Functions in JavaScript</vt:lpstr>
      <vt:lpstr>Callback Functions in JavaScript</vt:lpstr>
      <vt:lpstr>Anonymous callback function</vt:lpstr>
      <vt:lpstr>Callback with setTimeout() function</vt:lpstr>
      <vt:lpstr>Callback Hell</vt:lpstr>
      <vt:lpstr>END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 Programming With XML and PHP Creating Interactive Web Pages</dc:title>
  <dc:creator>Abdirahman Suldanka</dc:creator>
  <cp:lastModifiedBy>Jamila Hassan Mohamed</cp:lastModifiedBy>
  <cp:revision>152</cp:revision>
  <dcterms:created xsi:type="dcterms:W3CDTF">2012-09-01T17:35:17Z</dcterms:created>
  <dcterms:modified xsi:type="dcterms:W3CDTF">2025-10-20T06:09:32Z</dcterms:modified>
</cp:coreProperties>
</file>